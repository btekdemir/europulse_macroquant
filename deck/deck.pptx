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3.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nswer" id="{f2609ae3-2a9d-c07e-280a-b1a37f484f44}">
          <p14:sldIdLst>
            <p14:sldId id="256"/>
          </p14:sldIdLst>
        </p14:section>
        <p14:section name="Method" id="{3b1a851e-9eca-1171-4ce8-270e7f523451}">
          <p14:sldIdLst>
            <p14:sldId id="257"/>
          </p14:sldIdLst>
        </p14:section>
        <p14:section name="Accuracy" id="{f2c02a79-558c-b07e-029e-0ba1f8b52ac2}">
          <p14:sldIdLst>
            <p14:sldId id="258"/>
          </p14:sldIdLst>
        </p14:section>
        <p14:section name="Shocks" id="{3d4472a2-ff48-525d-9c9b-0b55969a4268}">
          <p14:sldIdLst>
            <p14:sldId id="259"/>
          </p14:sldIdLst>
        </p14:section>
        <p14:section name="Dashboard" id="{9d064e50-f456-2a3d-bbaa-2e1a392e6b44}">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84B"/>
                </a:solidFill>
                <a:latin typeface="+mn-lt"/>
              </a:defRPr>
            </a:pPr>
            <a:r>
              <a:rPr sz="1300" b="0" i="0" u="none" strike="noStrike">
                <a:solidFill>
                  <a:srgbClr val="14284B"/>
                </a:solidFill>
                <a:latin typeface="+mn-lt"/>
              </a:rPr>
              <a:t>Headline HICP, % y/y: last 24 months and the forecast fan</a:t>
            </a:r>
          </a:p>
        </c:rich>
      </c:tx>
      <c:layout/>
      <c:overlay val="0"/>
    </c:title>
    <c:autoTitleDeleted val="0"/>
    <c:plotArea>
      <c:layout/>
      <c:lineChart>
        <c:varyColors val="0"/>
        <c:ser>
          <c:idx val="0"/>
          <c:order val="0"/>
          <c:tx>
            <c:strRef>
              <c:f>Sheet1!$B$1</c:f>
              <c:strCache>
                <c:ptCount val="1"/>
                <c:pt idx="0">
                  <c:v>Actual</c:v>
                </c:pt>
              </c:strCache>
            </c:strRef>
          </c:tx>
          <c:spPr>
            <a:solidFill>
              <a:srgbClr val="0F1B2D"/>
            </a:solidFill>
            <a:ln w="25400" cap="flat">
              <a:solidFill>
                <a:srgbClr val="0F1B2D"/>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0F1B2D"/>
              </a:solidFill>
              <a:ln w="9525" cap="flat">
                <a:solidFill>
                  <a:srgbClr val="0F1B2D"/>
                </a:solidFill>
                <a:prstDash val="solid"/>
                <a:round/>
              </a:ln>
              <a:effectLst/>
            </c:spPr>
          </c:marker>
          <c:cat>
            <c:multiLvlStrRef>
              <c:f>Sheet1!$A$2:$A$28</c:f>
              <c:multiLvlStrCache>
                <c:ptCount val="27"/>
                <c:lvl>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pt idx="20">
                    <c:v>Jun 26</c:v>
                  </c:pt>
                  <c:pt idx="21">
                    <c:v>Jul 26</c:v>
                  </c:pt>
                  <c:pt idx="22">
                    <c:v>Aug 26</c:v>
                  </c:pt>
                  <c:pt idx="23">
                    <c:v>Sep 26</c:v>
                  </c:pt>
                  <c:pt idx="24">
                    <c:v>Oct 26</c:v>
                  </c:pt>
                  <c:pt idx="25">
                    <c:v>Nov 26</c:v>
                  </c:pt>
                  <c:pt idx="26">
                    <c:v>Dec 26</c:v>
                  </c:pt>
                </c:lvl>
              </c:multiLvlStrCache>
            </c:multiLvlStrRef>
          </c:cat>
          <c:val>
            <c:numRef>
              <c:f>Sheet1!$B$2:$B$28</c:f>
              <c:numCache>
                <c:formatCode>General</c:formatCode>
                <c:ptCount val="27"/>
                <c:pt idx="0">
                  <c:v>2.0055825493642043</c:v>
                </c:pt>
                <c:pt idx="1">
                  <c:v>2.2455556710676783</c:v>
                </c:pt>
                <c:pt idx="2">
                  <c:v>2.4286455630513792</c:v>
                </c:pt>
                <c:pt idx="3">
                  <c:v>2.5208333333333277</c:v>
                </c:pt>
                <c:pt idx="4">
                  <c:v>2.3188405797101463</c:v>
                </c:pt>
                <c:pt idx="5">
                  <c:v>2.17815678619131</c:v>
                </c:pt>
                <c:pt idx="6">
                  <c:v>2.1656961896005855</c:v>
                </c:pt>
                <c:pt idx="7">
                  <c:v>1.8960244648318136</c:v>
                </c:pt>
                <c:pt idx="8">
                  <c:v>1.9835215135795004</c:v>
                </c:pt>
                <c:pt idx="9">
                  <c:v>2.0347949944043098</c:v>
                </c:pt>
                <c:pt idx="10">
                  <c:v>2.042267831741529</c:v>
                </c:pt>
                <c:pt idx="11">
                  <c:v>2.2271941421743158</c:v>
                </c:pt>
                <c:pt idx="12">
                  <c:v>2.0979020979020824</c:v>
                </c:pt>
                <c:pt idx="13">
                  <c:v>2.135231316725994</c:v>
                </c:pt>
                <c:pt idx="14">
                  <c:v>1.9657513425878959</c:v>
                </c:pt>
                <c:pt idx="15">
                  <c:v>1.6764885185937661</c:v>
                </c:pt>
                <c:pt idx="16">
                  <c:v>1.8919465803318491</c:v>
                </c:pt>
                <c:pt idx="17">
                  <c:v>2.554047259929604</c:v>
                </c:pt>
                <c:pt idx="18">
                  <c:v>3.029697030296963</c:v>
                </c:pt>
                <c:pt idx="19">
                  <c:v>3.171268507402969</c:v>
                </c:pt>
                <c:pt idx="20">
                  <c:v>2.752842609216022</c:v>
                </c:pt>
                <c:pt idx="21">
                  <c:v>2.9414697377604826</c:v>
                </c:pt>
                <c:pt idx="22">
                  <c:v>3.2460420193169304</c:v>
                </c:pt>
                <c:pt idx="23">
                  <c:v>3.7703939514524443</c:v>
                </c:pt>
              </c:numCache>
            </c:numRef>
          </c:val>
          <c:smooth val="0"/>
        </c:ser>
        <c:ser>
          <c:idx val="1"/>
          <c:order val="1"/>
          <c:tx>
            <c:strRef>
              <c:f>Sheet1!$C$1</c:f>
              <c:strCache>
                <c:ptCount val="1"/>
                <c:pt idx="0">
                  <c:v>Forecast</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Sheet1!$A$2:$A$28</c:f>
              <c:multiLvlStrCache>
                <c:ptCount val="27"/>
                <c:lvl>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pt idx="20">
                    <c:v>Jun 26</c:v>
                  </c:pt>
                  <c:pt idx="21">
                    <c:v>Jul 26</c:v>
                  </c:pt>
                  <c:pt idx="22">
                    <c:v>Aug 26</c:v>
                  </c:pt>
                  <c:pt idx="23">
                    <c:v>Sep 26</c:v>
                  </c:pt>
                  <c:pt idx="24">
                    <c:v>Oct 26</c:v>
                  </c:pt>
                  <c:pt idx="25">
                    <c:v>Nov 26</c:v>
                  </c:pt>
                  <c:pt idx="26">
                    <c:v>Dec 26</c:v>
                  </c:pt>
                </c:lvl>
              </c:multiLvlStrCache>
            </c:multiLvlStrRef>
          </c:cat>
          <c:val>
            <c:numRef>
              <c:f>Sheet1!$C$2:$C$28</c:f>
              <c:numCache>
                <c:formatCode>General</c:formatCode>
                <c:ptCount val="27"/>
                <c:pt idx="23">
                  <c:v>3.7703939514524443</c:v>
                </c:pt>
                <c:pt idx="24">
                  <c:v>3.778144269083472</c:v>
                </c:pt>
                <c:pt idx="25">
                  <c:v>3.6895580856292742</c:v>
                </c:pt>
                <c:pt idx="26">
                  <c:v>3.7735759028955096</c:v>
                </c:pt>
              </c:numCache>
            </c:numRef>
          </c:val>
          <c:smooth val="0"/>
        </c:ser>
        <c:ser>
          <c:idx val="2"/>
          <c:order val="2"/>
          <c:tx>
            <c:strRef>
              <c:f>Sheet1!$D$1</c:f>
              <c:strCache>
                <c:ptCount val="1"/>
                <c:pt idx="0">
                  <c:v>68% band</c:v>
                </c:pt>
              </c:strCache>
            </c:strRef>
          </c:tx>
          <c:spPr>
            <a:solidFill>
              <a:srgbClr val="7FAEE6"/>
            </a:solidFill>
            <a:ln w="25400" cap="flat">
              <a:solidFill>
                <a:srgbClr val="7FAEE6"/>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7FAEE6"/>
              </a:solidFill>
              <a:ln w="9525" cap="flat">
                <a:solidFill>
                  <a:srgbClr val="7FAEE6"/>
                </a:solidFill>
                <a:prstDash val="solid"/>
                <a:round/>
              </a:ln>
              <a:effectLst/>
            </c:spPr>
          </c:marker>
          <c:cat>
            <c:multiLvlStrRef>
              <c:f>Sheet1!$A$2:$A$28</c:f>
              <c:multiLvlStrCache>
                <c:ptCount val="27"/>
                <c:lvl>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pt idx="20">
                    <c:v>Jun 26</c:v>
                  </c:pt>
                  <c:pt idx="21">
                    <c:v>Jul 26</c:v>
                  </c:pt>
                  <c:pt idx="22">
                    <c:v>Aug 26</c:v>
                  </c:pt>
                  <c:pt idx="23">
                    <c:v>Sep 26</c:v>
                  </c:pt>
                  <c:pt idx="24">
                    <c:v>Oct 26</c:v>
                  </c:pt>
                  <c:pt idx="25">
                    <c:v>Nov 26</c:v>
                  </c:pt>
                  <c:pt idx="26">
                    <c:v>Dec 26</c:v>
                  </c:pt>
                </c:lvl>
              </c:multiLvlStrCache>
            </c:multiLvlStrRef>
          </c:cat>
          <c:val>
            <c:numRef>
              <c:f>Sheet1!$D$2:$D$28</c:f>
              <c:numCache>
                <c:formatCode>General</c:formatCode>
                <c:ptCount val="27"/>
                <c:pt idx="23">
                  <c:v>3.7703939514524443</c:v>
                </c:pt>
                <c:pt idx="24">
                  <c:v>3.9406402280441544</c:v>
                </c:pt>
                <c:pt idx="25">
                  <c:v>3.988689526767063</c:v>
                </c:pt>
                <c:pt idx="26">
                  <c:v>4.2312625809057085</c:v>
                </c:pt>
              </c:numCache>
            </c:numRef>
          </c:val>
          <c:smooth val="0"/>
        </c:ser>
        <c:ser>
          <c:idx val="3"/>
          <c:order val="3"/>
          <c:tx>
            <c:strRef>
              <c:f>Sheet1!$E$1</c:f>
              <c:strCache>
                <c:ptCount val="1"/>
                <c:pt idx="0">
                  <c:v>68% band low</c:v>
                </c:pt>
              </c:strCache>
            </c:strRef>
          </c:tx>
          <c:spPr>
            <a:solidFill>
              <a:srgbClr val="7FAEE6"/>
            </a:solidFill>
            <a:ln w="25400" cap="flat">
              <a:solidFill>
                <a:srgbClr val="7FAEE6"/>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7FAEE6"/>
              </a:solidFill>
              <a:ln w="9525" cap="flat">
                <a:solidFill>
                  <a:srgbClr val="7FAEE6"/>
                </a:solidFill>
                <a:prstDash val="solid"/>
                <a:round/>
              </a:ln>
              <a:effectLst/>
            </c:spPr>
          </c:marker>
          <c:cat>
            <c:multiLvlStrRef>
              <c:f>Sheet1!$A$2:$A$28</c:f>
              <c:multiLvlStrCache>
                <c:ptCount val="27"/>
                <c:lvl>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pt idx="20">
                    <c:v>Jun 26</c:v>
                  </c:pt>
                  <c:pt idx="21">
                    <c:v>Jul 26</c:v>
                  </c:pt>
                  <c:pt idx="22">
                    <c:v>Aug 26</c:v>
                  </c:pt>
                  <c:pt idx="23">
                    <c:v>Sep 26</c:v>
                  </c:pt>
                  <c:pt idx="24">
                    <c:v>Oct 26</c:v>
                  </c:pt>
                  <c:pt idx="25">
                    <c:v>Nov 26</c:v>
                  </c:pt>
                  <c:pt idx="26">
                    <c:v>Dec 26</c:v>
                  </c:pt>
                </c:lvl>
              </c:multiLvlStrCache>
            </c:multiLvlStrRef>
          </c:cat>
          <c:val>
            <c:numRef>
              <c:f>Sheet1!$E$2:$E$28</c:f>
              <c:numCache>
                <c:formatCode>General</c:formatCode>
                <c:ptCount val="27"/>
                <c:pt idx="23">
                  <c:v>3.7703939514524443</c:v>
                </c:pt>
                <c:pt idx="24">
                  <c:v>3.61150920812502</c:v>
                </c:pt>
                <c:pt idx="25">
                  <c:v>3.4318369085583678</c:v>
                </c:pt>
                <c:pt idx="26">
                  <c:v>3.3984852197475606</c:v>
                </c:pt>
              </c:numCache>
            </c:numRef>
          </c:val>
          <c:smooth val="0"/>
        </c:ser>
        <c:ser>
          <c:idx val="4"/>
          <c:order val="4"/>
          <c:tx>
            <c:strRef>
              <c:f>Sheet1!$F$1</c:f>
              <c:strCache>
                <c:ptCount val="1"/>
                <c:pt idx="0">
                  <c:v>90% band</c:v>
                </c:pt>
              </c:strCache>
            </c:strRef>
          </c:tx>
          <c:spPr>
            <a:solidFill>
              <a:srgbClr val="C9DCF4"/>
            </a:solidFill>
            <a:ln w="25400" cap="flat">
              <a:solidFill>
                <a:srgbClr val="C9DCF4"/>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C9DCF4"/>
              </a:solidFill>
              <a:ln w="9525" cap="flat">
                <a:solidFill>
                  <a:srgbClr val="C9DCF4"/>
                </a:solidFill>
                <a:prstDash val="solid"/>
                <a:round/>
              </a:ln>
              <a:effectLst/>
            </c:spPr>
          </c:marker>
          <c:cat>
            <c:multiLvlStrRef>
              <c:f>Sheet1!$A$2:$A$28</c:f>
              <c:multiLvlStrCache>
                <c:ptCount val="27"/>
                <c:lvl>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pt idx="20">
                    <c:v>Jun 26</c:v>
                  </c:pt>
                  <c:pt idx="21">
                    <c:v>Jul 26</c:v>
                  </c:pt>
                  <c:pt idx="22">
                    <c:v>Aug 26</c:v>
                  </c:pt>
                  <c:pt idx="23">
                    <c:v>Sep 26</c:v>
                  </c:pt>
                  <c:pt idx="24">
                    <c:v>Oct 26</c:v>
                  </c:pt>
                  <c:pt idx="25">
                    <c:v>Nov 26</c:v>
                  </c:pt>
                  <c:pt idx="26">
                    <c:v>Dec 26</c:v>
                  </c:pt>
                </c:lvl>
              </c:multiLvlStrCache>
            </c:multiLvlStrRef>
          </c:cat>
          <c:val>
            <c:numRef>
              <c:f>Sheet1!$F$2:$F$28</c:f>
              <c:numCache>
                <c:formatCode>General</c:formatCode>
                <c:ptCount val="27"/>
                <c:pt idx="23">
                  <c:v>3.7703939514524443</c:v>
                </c:pt>
                <c:pt idx="24">
                  <c:v>4.199794343633122</c:v>
                </c:pt>
                <c:pt idx="25">
                  <c:v>4.538188394311049</c:v>
                </c:pt>
                <c:pt idx="26">
                  <c:v>5.0745349216619235</c:v>
                </c:pt>
              </c:numCache>
            </c:numRef>
          </c:val>
          <c:smooth val="0"/>
        </c:ser>
        <c:ser>
          <c:idx val="5"/>
          <c:order val="5"/>
          <c:tx>
            <c:strRef>
              <c:f>Sheet1!$G$1</c:f>
              <c:strCache>
                <c:ptCount val="1"/>
                <c:pt idx="0">
                  <c:v>90% band low</c:v>
                </c:pt>
              </c:strCache>
            </c:strRef>
          </c:tx>
          <c:spPr>
            <a:solidFill>
              <a:srgbClr val="C9DCF4"/>
            </a:solidFill>
            <a:ln w="25400" cap="flat">
              <a:solidFill>
                <a:srgbClr val="C9DCF4"/>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C9DCF4"/>
              </a:solidFill>
              <a:ln w="9525" cap="flat">
                <a:solidFill>
                  <a:srgbClr val="C9DCF4"/>
                </a:solidFill>
                <a:prstDash val="solid"/>
                <a:round/>
              </a:ln>
              <a:effectLst/>
            </c:spPr>
          </c:marker>
          <c:cat>
            <c:multiLvlStrRef>
              <c:f>Sheet1!$A$2:$A$28</c:f>
              <c:multiLvlStrCache>
                <c:ptCount val="27"/>
                <c:lvl>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pt idx="17">
                    <c:v>Mar 26</c:v>
                  </c:pt>
                  <c:pt idx="18">
                    <c:v>Apr 26</c:v>
                  </c:pt>
                  <c:pt idx="19">
                    <c:v>May 26</c:v>
                  </c:pt>
                  <c:pt idx="20">
                    <c:v>Jun 26</c:v>
                  </c:pt>
                  <c:pt idx="21">
                    <c:v>Jul 26</c:v>
                  </c:pt>
                  <c:pt idx="22">
                    <c:v>Aug 26</c:v>
                  </c:pt>
                  <c:pt idx="23">
                    <c:v>Sep 26</c:v>
                  </c:pt>
                  <c:pt idx="24">
                    <c:v>Oct 26</c:v>
                  </c:pt>
                  <c:pt idx="25">
                    <c:v>Nov 26</c:v>
                  </c:pt>
                  <c:pt idx="26">
                    <c:v>Dec 26</c:v>
                  </c:pt>
                </c:lvl>
              </c:multiLvlStrCache>
            </c:multiLvlStrRef>
          </c:cat>
          <c:val>
            <c:numRef>
              <c:f>Sheet1!$G$2:$G$28</c:f>
              <c:numCache>
                <c:formatCode>General</c:formatCode>
                <c:ptCount val="27"/>
                <c:pt idx="23">
                  <c:v>3.7703939514524443</c:v>
                </c:pt>
                <c:pt idx="24">
                  <c:v>3.491592567361237</c:v>
                </c:pt>
                <c:pt idx="25">
                  <c:v>3.093708168999547</c:v>
                </c:pt>
                <c:pt idx="26">
                  <c:v>2.998638531993297</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82"/>
                </a:solidFill>
                <a:latin typeface="+mn-lt"/>
              </a:defRPr>
            </a:pPr>
            <a:endParaRPr lang="en-US"/>
          </a:p>
        </c:txPr>
        <c:crossAx val="2094734552"/>
        <c:crosses val="autoZero"/>
        <c:auto val="1"/>
        <c:lblAlgn val="ctr"/>
        <c:noMultiLvlLbl val="1"/>
        <c:tickLblSkip val="3"/>
      </c:catAx>
      <c:valAx>
        <c:axId val="2094734552"/>
        <c:scaling>
          <c:orientation val="minMax"/>
          <c:max val="5.5"/>
          <c:min val="1"/>
        </c:scaling>
        <c:delete val="0"/>
        <c:axPos val="l"/>
        <c:majorGridlines>
          <c:spPr>
            <a:ln w="6350" cap="flat">
              <a:solidFill>
                <a:srgbClr val="E3E8EF"/>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82"/>
                </a:solidFill>
                <a:latin typeface="+mn-lt"/>
              </a:defRPr>
            </a:pPr>
            <a:endParaRPr lang="en-US"/>
          </a:p>
        </c:txPr>
        <c:crossAx val="2094734554"/>
        <c:crosses val="autoZero"/>
        <c:crossBetween val="between"/>
      </c:valAx>
      <c:spPr>
        <a:noFill/>
        <a:ln>
          <a:noFill/>
        </a:ln>
        <a:effectLst/>
      </c:spPr>
    </c:plotArea>
    <c:plotVisOnly val="1"/>
    <c:dispBlanksAs val="gap"/>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84B"/>
                </a:solidFill>
                <a:latin typeface="+mn-lt"/>
              </a:defRPr>
            </a:pPr>
            <a:r>
              <a:rPr sz="1300" b="0" i="0" u="none" strike="noStrike">
                <a:solidFill>
                  <a:srgbClr val="14284B"/>
                </a:solidFill>
                <a:latin typeface="+mn-lt"/>
              </a:rPr>
              <a:t>Root-mean-squared error of headline y/y, pp</a:t>
            </a:r>
          </a:p>
        </c:rich>
      </c:tx>
      <c:layout/>
      <c:overlay val="0"/>
    </c:title>
    <c:autoTitleDeleted val="0"/>
    <c:plotArea>
      <c:layout/>
      <c:barChart>
        <c:barDir val="col"/>
        <c:grouping val="clustered"/>
        <c:varyColors val="0"/>
        <c:ser>
          <c:idx val="0"/>
          <c:order val="0"/>
          <c:tx>
            <c:strRef>
              <c:f>Sheet1!$B$1</c:f>
              <c:strCache>
                <c:ptCount val="1"/>
                <c:pt idx="0">
                  <c:v>EuroPulse bottom-up</c:v>
                </c:pt>
              </c:strCache>
            </c:strRef>
          </c:tx>
          <c:spPr>
            <a:solidFill>
              <a:srgbClr val="2A78D6"/>
            </a:solidFill>
            <a:effectLst/>
          </c:spPr>
          <c:invertIfNegative val="0"/>
          <c:dLbls>
            <c:numFmt formatCode="0.00" sourceLinked="0"/>
            <c:txPr>
              <a:bodyPr/>
              <a:lstStyle/>
              <a:p>
                <a:pPr>
                  <a:defRPr b="0" i="0" strike="noStrike" sz="1200" u="none">
                    <a:solidFill>
                      <a:srgbClr val="0F1B2D"/>
                    </a:solidFill>
                    <a:latin typeface="+mn-lt"/>
                  </a:defRPr>
                </a:pPr>
              </a:p>
            </c:txPr>
            <c:showLegendKey val="0"/>
            <c:showVal val="1"/>
            <c:showCatName val="0"/>
            <c:showSerName val="0"/>
            <c:showPercent val="0"/>
            <c:showBubbleSize val="0"/>
            <c:showLeaderLines val="0"/>
          </c:dLbls>
          <c:cat>
            <c:multiLvlStrRef>
              <c:f>Sheet1!$A$2:$A$4</c:f>
              <c:multiLvlStrCache>
                <c:ptCount val="3"/>
                <c:lvl>
                  <c:pt idx="0">
                    <c:v>1 month ahead</c:v>
                  </c:pt>
                  <c:pt idx="1">
                    <c:v>2 months ahead</c:v>
                  </c:pt>
                  <c:pt idx="2">
                    <c:v>3 months ahead</c:v>
                  </c:pt>
                </c:lvl>
              </c:multiLvlStrCache>
            </c:multiLvlStrRef>
          </c:cat>
          <c:val>
            <c:numRef>
              <c:f>Sheet1!$B$2:$B$4</c:f>
              <c:numCache>
                <c:formatCode>General</c:formatCode>
                <c:ptCount val="3"/>
                <c:pt idx="0">
                  <c:v>0.23174786528410443</c:v>
                </c:pt>
                <c:pt idx="1">
                  <c:v>0.4385419981183285</c:v>
                </c:pt>
                <c:pt idx="2">
                  <c:v>0.6315162454819622</c:v>
                </c:pt>
              </c:numCache>
            </c:numRef>
          </c:val>
        </c:ser>
        <c:ser>
          <c:idx val="1"/>
          <c:order val="1"/>
          <c:tx>
            <c:strRef>
              <c:f>Sheet1!$C$1</c:f>
              <c:strCache>
                <c:ptCount val="1"/>
                <c:pt idx="0">
                  <c:v>Random walk</c:v>
                </c:pt>
              </c:strCache>
            </c:strRef>
          </c:tx>
          <c:spPr>
            <a:solidFill>
              <a:srgbClr val="5B6B82"/>
            </a:solidFill>
            <a:effectLst/>
          </c:spPr>
          <c:invertIfNegative val="0"/>
          <c:dLbls>
            <c:numFmt formatCode="0.00" sourceLinked="0"/>
            <c:txPr>
              <a:bodyPr/>
              <a:lstStyle/>
              <a:p>
                <a:pPr>
                  <a:defRPr b="0" i="0" strike="noStrike" sz="1200" u="none">
                    <a:solidFill>
                      <a:srgbClr val="0F1B2D"/>
                    </a:solidFill>
                    <a:latin typeface="+mn-lt"/>
                  </a:defRPr>
                </a:pPr>
              </a:p>
            </c:txPr>
            <c:showLegendKey val="0"/>
            <c:showVal val="1"/>
            <c:showCatName val="0"/>
            <c:showSerName val="0"/>
            <c:showPercent val="0"/>
            <c:showBubbleSize val="0"/>
            <c:showLeaderLines val="0"/>
          </c:dLbls>
          <c:cat>
            <c:multiLvlStrRef>
              <c:f>Sheet1!$A$2:$A$4</c:f>
              <c:multiLvlStrCache>
                <c:ptCount val="3"/>
                <c:lvl>
                  <c:pt idx="0">
                    <c:v>1 month ahead</c:v>
                  </c:pt>
                  <c:pt idx="1">
                    <c:v>2 months ahead</c:v>
                  </c:pt>
                  <c:pt idx="2">
                    <c:v>3 months ahead</c:v>
                  </c:pt>
                </c:lvl>
              </c:multiLvlStrCache>
            </c:multiLvlStrRef>
          </c:cat>
          <c:val>
            <c:numRef>
              <c:f>Sheet1!$C$2:$C$4</c:f>
              <c:numCache>
                <c:formatCode>General</c:formatCode>
                <c:ptCount val="3"/>
                <c:pt idx="0">
                  <c:v>0.36951832568269877</c:v>
                </c:pt>
                <c:pt idx="1">
                  <c:v>0.5994036261350344</c:v>
                </c:pt>
                <c:pt idx="2">
                  <c:v>0.8006115424946919</c:v>
                </c:pt>
              </c:numCache>
            </c:numRef>
          </c:val>
        </c:ser>
        <c:dLbls>
          <c:numFmt formatCode="0.00" sourceLinked="0"/>
          <c:txPr>
            <a:bodyPr/>
            <a:lstStyle/>
            <a:p>
              <a:pPr>
                <a:defRPr b="0" i="0" strike="noStrike" sz="1200" u="none">
                  <a:solidFill>
                    <a:srgbClr val="0F1B2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2"/>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8EF"/>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8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6B8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4284B"/>
                </a:solidFill>
                <a:latin typeface="+mn-lt"/>
              </a:defRPr>
            </a:pPr>
            <a:r>
              <a:rPr sz="1300" b="0" i="0" u="none" strike="noStrike">
                <a:solidFill>
                  <a:srgbClr val="14284B"/>
                </a:solidFill>
                <a:latin typeface="+mn-lt"/>
              </a:rPr>
              <a:t>Impact on euro area* headline inflation, pp of y/y, by month</a:t>
            </a:r>
          </a:p>
        </c:rich>
      </c:tx>
      <c:layout/>
      <c:overlay val="0"/>
    </c:title>
    <c:autoTitleDeleted val="0"/>
    <c:plotArea>
      <c:layout/>
      <c:barChart>
        <c:barDir val="col"/>
        <c:grouping val="clustered"/>
        <c:varyColors val="0"/>
        <c:ser>
          <c:idx val="0"/>
          <c:order val="0"/>
          <c:tx>
            <c:strRef>
              <c:f>Sheet1!$B$1</c:f>
              <c:strCache>
                <c:ptCount val="1"/>
                <c:pt idx="0">
                  <c:v>Impact on headline y/y, pp</c:v>
                </c:pt>
              </c:strCache>
            </c:strRef>
          </c:tx>
          <c:spPr>
            <a:solidFill>
              <a:srgbClr val="E39B2D"/>
            </a:solidFill>
            <a:effectLst/>
          </c:spPr>
          <c:invertIfNegative val="0"/>
          <c:dLbls>
            <c:numFmt formatCode="0.00" sourceLinked="0"/>
            <c:txPr>
              <a:bodyPr/>
              <a:lstStyle/>
              <a:p>
                <a:pPr>
                  <a:defRPr b="0" i="0" strike="noStrike" sz="1000" u="none">
                    <a:solidFill>
                      <a:srgbClr val="5B6B82"/>
                    </a:solidFill>
                    <a:latin typeface="+mn-lt"/>
                  </a:defRPr>
                </a:pPr>
              </a:p>
            </c:txPr>
            <c:showLegendKey val="0"/>
            <c:showVal val="1"/>
            <c:showCatName val="0"/>
            <c:showSerName val="0"/>
            <c:showPercent val="0"/>
            <c:showBubbleSize val="0"/>
            <c:showLeaderLines val="0"/>
          </c:dLbls>
          <c:cat>
            <c:multiLvlStrRef>
              <c:f>Sheet1!$A$2:$A$16</c:f>
              <c:multiLvlStrCache>
                <c:ptCount val="15"/>
                <c:lvl>
                  <c:pt idx="0">
                    <c:v>Oct 26</c:v>
                  </c:pt>
                  <c:pt idx="1">
                    <c:v>Nov 26</c:v>
                  </c:pt>
                  <c:pt idx="2">
                    <c:v>Dec 26</c:v>
                  </c:pt>
                  <c:pt idx="3">
                    <c:v>Jan 27</c:v>
                  </c:pt>
                  <c:pt idx="4">
                    <c:v>Feb 27</c:v>
                  </c:pt>
                  <c:pt idx="5">
                    <c:v>Mar 27</c:v>
                  </c:pt>
                  <c:pt idx="6">
                    <c:v>Apr 27</c:v>
                  </c:pt>
                  <c:pt idx="7">
                    <c:v>May 27</c:v>
                  </c:pt>
                  <c:pt idx="8">
                    <c:v>Jun 27</c:v>
                  </c:pt>
                  <c:pt idx="9">
                    <c:v>Jul 27</c:v>
                  </c:pt>
                  <c:pt idx="10">
                    <c:v>Aug 27</c:v>
                  </c:pt>
                  <c:pt idx="11">
                    <c:v>Sep 27</c:v>
                  </c:pt>
                  <c:pt idx="12">
                    <c:v>Oct 27</c:v>
                  </c:pt>
                  <c:pt idx="13">
                    <c:v>Nov 27</c:v>
                  </c:pt>
                  <c:pt idx="14">
                    <c:v>Dec 27</c:v>
                  </c:pt>
                </c:lvl>
              </c:multiLvlStrCache>
            </c:multiLvlStrRef>
          </c:cat>
          <c:val>
            <c:numRef>
              <c:f>Sheet1!$B$2:$B$16</c:f>
              <c:numCache>
                <c:formatCode>General</c:formatCode>
                <c:ptCount val="15"/>
                <c:pt idx="0">
                  <c:v>0</c:v>
                </c:pt>
                <c:pt idx="1">
                  <c:v>0.1643407722911261</c:v>
                </c:pt>
                <c:pt idx="2">
                  <c:v>0.3340224365169989</c:v>
                </c:pt>
                <c:pt idx="3">
                  <c:v>0.5088020726499876</c:v>
                </c:pt>
                <c:pt idx="4">
                  <c:v>0.6889742409810268</c:v>
                </c:pt>
                <c:pt idx="5">
                  <c:v>0.8747053190363897</c:v>
                </c:pt>
                <c:pt idx="6">
                  <c:v>1.066166817641559</c:v>
                </c:pt>
                <c:pt idx="7">
                  <c:v>1.066166817641559</c:v>
                </c:pt>
                <c:pt idx="8">
                  <c:v>1.066166817641559</c:v>
                </c:pt>
                <c:pt idx="9">
                  <c:v>1.066166817641559</c:v>
                </c:pt>
                <c:pt idx="10">
                  <c:v>1.066166817641559</c:v>
                </c:pt>
                <c:pt idx="11">
                  <c:v>1.066166817641559</c:v>
                </c:pt>
                <c:pt idx="12">
                  <c:v>1.066166817641559</c:v>
                </c:pt>
                <c:pt idx="13">
                  <c:v>0.9002660235936805</c:v>
                </c:pt>
                <c:pt idx="14">
                  <c:v>0.7297953436482724</c:v>
                </c:pt>
              </c:numCache>
            </c:numRef>
          </c:val>
        </c:ser>
        <c:dLbls>
          <c:numFmt formatCode="0.00" sourceLinked="0"/>
          <c:txPr>
            <a:bodyPr/>
            <a:lstStyle/>
            <a:p>
              <a:pPr>
                <a:defRPr b="0" i="0" strike="noStrike" sz="1000" u="none">
                  <a:solidFill>
                    <a:srgbClr val="5B6B82"/>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82"/>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8EF"/>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8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answer. Euro area* headline HICP is forecast at 3.77% y/y for Dec 2026, three months after the Sep 2026 print of 3.77%. The 68% band is 3.4 to 4.2% and the 90% band 3.0 to 5.1%; both come from the model's own out-of-sample errors, not from model assumptions, which is why the fan is skewed up (the model under-predicted in 2021-22).
Why it barely moves: the base effect takes off 0.11 pp, because last year's October to December monthly changes drop out of the window, and new momentum adds 0.12 pp. The two almost cancel.
What carries the level: services 1.52 pp and fuels 1.30 pp, with fuel prices up 32.3% y/y.
Risk framing: a 27% chance that December prints above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validation and structured outputs. Nothing is downloaded by hand: the pipeline pulls Eurostat's HICP index, item and country weights and the official contributions through the API, and records the vintage of every pull.
Before any model runs, 9 gates check the data; 8 pass and V8 is a documented warning, not a failure.
The strongest check is the reconciliation: we rebuild Eurostat's headline from the six components with annual chain-linked Laspeyres weights and a December link. Over 309 months the largest gap is 0.030 pp, and the contributions match Eurostat's within 0.009 pp. If our arithmetic is right there, the forecast's contributions can be trusted.
Every model rule was written and committed before results existed, and every output is schema-validated JSON. 217 automated tests cover the maths and the data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benchmark that matters at short horizons is the random walk, "y/y stays where it is", which most inflation models fail to beat. Out of sample over 198 forecast origins, our three-month error is 0.63 pp against 0.80 pp, a ratio of 0.79. The Diebold-Mariano test (HLN correction, Newey-West) gives p = 0.016.
The gain is the same before and after 2020, which makes it less likely to be a crisis accident.
Be upfront about the limits: in 2020-23 only 35% of outcomes fell inside the 68% band and the model under-predicted by 0.37 pp on average. In June 2022 it said 6.8% and inflation was 8.6%.
On model choice: there were 4 rounds, each with its rule fixed and committed first. The adopted variant passed narrowly (p 0.016 against a Holm threshold of 0.0167). The model is now frozen, and the hash-chained ledger is the clean out-of-sample test from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preset, with its assumptions on screen. Wholesale gas spikes; retail gas and electricity follow slowly because of regulated tariffs and fixed contracts, so the shock is +20% on the retail level, phased in over 6 months from Nov 2026, about a quarter of the 2021-22 episode.
The engine moves each country and component's price level and re-aggregates with the euro area weights, so the pass-through is exact arithmetic rather than a regression: the impact builds to +1.07 pp in Apr 2027, and December would print 4.1% instead of 3.8%. Because it is a level shock, it lifts y/y for a year and then drops out as a base effect.
The assumptions (A1 to A5) are always visible next to the result. Second-round effects into core are optional, estimated with a regime-dependent distributed lag, and shown separately because they are uncertain.
For oil, the Brent preset goes through an estimated pass-through to fuel prices of 0.31 (s.e. 0.04); +30% Brent peaks at +0.46 pp. The simulator also solves backwards: what size of shock takes December to a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the previous slides is in one dashboard, EuroPulse: live on the web and also a single offline HTML file, in English and French, with a guided tour per page.
What is new: a chatbot that answers questions about the page in English, French or Turkish, where every number in the answer is checked against the figure it cites, and that can run a scenario itself, for example "what if gas rises 30% in Germany from November?". Describing a shock in a sentence works the same way: the language model only fills a validated schema, the engine computes, and the reader confirms before anything runs.
The simulator also works backwards: what shock size takes December to a target. And the forecast keeps score: every published forecast goes into a hash-chained ledger and is scored when Eurostat publishes.
Next steps: weekly fuel prices, pre-tax energy prices, country-level gas and electricity, and true real-time vintages. Every output is schema-validated JSON, so the same results can feed Power BI or a research platform without re-computing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P_DARK">
    <p:bg>
      <p:bgPr>
        <a:solidFill>
          <a:schemeClr val="tx2"/>
        </a:solidFill>
      </p:bgPr>
    </p:bg>
    <p:spTree>
      <p:nvGrpSpPr>
        <p:cNvPr id="1" name=""/>
        <p:cNvGrpSpPr/>
        <p:nvPr/>
      </p:nvGrpSpPr>
      <p:grpSpPr>
        <a:xfrm>
          <a:off x="0" y="0"/>
          <a:ext cx="0" cy="0"/>
          <a:chOff x="0" y="0"/>
          <a:chExt cx="0" cy="0"/>
        </a:xfrm>
      </p:grpSpPr>
      <p:pic>
        <p:nvPicPr>
          <p:cNvPr id="2" name="Image 0" descr="/Users/baristekdemir/hicp-case/docs/europulse_logo.png">    </p:cNvPr>
          <p:cNvPicPr>
            <a:picLocks noChangeAspect="1"/>
          </p:cNvPicPr>
          <p:nvPr/>
        </p:nvPicPr>
        <p:blipFill>
          <a:blip r:embed="rId1"/>
          <a:stretch>
            <a:fillRect/>
          </a:stretch>
        </p:blipFill>
        <p:spPr>
          <a:xfrm>
            <a:off x="502920" y="6336792"/>
            <a:ext cx="274320" cy="274320"/>
          </a:xfrm>
          <a:prstGeom prst="rect">
            <a:avLst/>
          </a:prstGeom>
        </p:spPr>
      </p:pic>
      <p:sp>
        <p:nvSpPr>
          <p:cNvPr id="3" name="Text 0"/>
          <p:cNvSpPr/>
          <p:nvPr/>
        </p:nvSpPr>
        <p:spPr>
          <a:xfrm>
            <a:off x="868680" y="6309360"/>
            <a:ext cx="9692640" cy="329184"/>
          </a:xfrm>
          <a:prstGeom prst="rect">
            <a:avLst/>
          </a:prstGeom>
          <a:noFill/>
          <a:ln/>
        </p:spPr>
        <p:txBody>
          <a:bodyPr wrap="square" lIns="0" tIns="0" rIns="0" bIns="0" rtlCol="0" anchor="ctr"/>
          <a:lstStyle/>
          <a:p>
            <a:pPr indent="0" marL="0">
              <a:buNone/>
            </a:pPr>
            <a:r>
              <a:rPr lang="en-US" sz="1000" dirty="0">
                <a:solidFill>
                  <a:schemeClr val="bg2"/>
                </a:solidFill>
              </a:rPr>
              <a:t>EuroPulse · Source: Eurostat HICP (prc_hicp_minr, prc_hicp_iw, prc_hicp_cw, prc_hicp_ctr), own calculations · data to Sep 2026 · run 2026-10-22 (b70cab4)</a:t>
            </a:r>
            <a:endParaRPr lang="en-US" sz="1000" dirty="0"/>
          </a:p>
        </p:txBody>
      </p:sp>
      <p:sp>
        <p:nvSpPr>
          <p:cNvPr id="25" name="Slide Number Placeholder 0"/>
          <p:cNvSpPr>
            <a:spLocks noGrp="1"/>
          </p:cNvSpPr>
          <p:nvPr>
            <p:ph type="sldNum" sz="quarter" idx="4294967295"/>
          </p:nvPr>
        </p:nvSpPr>
        <p:spPr>
          <a:xfrm>
            <a:off x="11247120" y="6309360"/>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P_LIGHT">
    <p:bg>
      <p:bgPr>
        <a:solidFill>
          <a:schemeClr val="bg1"/>
        </a:solidFill>
      </p:bgPr>
    </p:bg>
    <p:spTree>
      <p:nvGrpSpPr>
        <p:cNvPr id="1" name=""/>
        <p:cNvGrpSpPr/>
        <p:nvPr/>
      </p:nvGrpSpPr>
      <p:grpSpPr>
        <a:xfrm>
          <a:off x="0" y="0"/>
          <a:ext cx="0" cy="0"/>
          <a:chOff x="0" y="0"/>
          <a:chExt cx="0" cy="0"/>
        </a:xfrm>
      </p:grpSpPr>
      <p:pic>
        <p:nvPicPr>
          <p:cNvPr id="2" name="Image 0" descr="/Users/baristekdemir/hicp-case/docs/europulse_logo.png">    </p:cNvPr>
          <p:cNvPicPr>
            <a:picLocks noChangeAspect="1"/>
          </p:cNvPicPr>
          <p:nvPr/>
        </p:nvPicPr>
        <p:blipFill>
          <a:blip r:embed="rId1"/>
          <a:stretch>
            <a:fillRect/>
          </a:stretch>
        </p:blipFill>
        <p:spPr>
          <a:xfrm>
            <a:off x="502920" y="6336792"/>
            <a:ext cx="274320" cy="274320"/>
          </a:xfrm>
          <a:prstGeom prst="rect">
            <a:avLst/>
          </a:prstGeom>
        </p:spPr>
      </p:pic>
      <p:sp>
        <p:nvSpPr>
          <p:cNvPr id="3" name="Text 0"/>
          <p:cNvSpPr/>
          <p:nvPr/>
        </p:nvSpPr>
        <p:spPr>
          <a:xfrm>
            <a:off x="868680" y="6309360"/>
            <a:ext cx="9692640" cy="329184"/>
          </a:xfrm>
          <a:prstGeom prst="rect">
            <a:avLst/>
          </a:prstGeom>
          <a:noFill/>
          <a:ln/>
        </p:spPr>
        <p:txBody>
          <a:bodyPr wrap="square" lIns="0" tIns="0" rIns="0" bIns="0" rtlCol="0" anchor="ctr"/>
          <a:lstStyle/>
          <a:p>
            <a:pPr indent="0" marL="0">
              <a:buNone/>
            </a:pPr>
            <a:r>
              <a:rPr lang="en-US" sz="1000" dirty="0">
                <a:solidFill>
                  <a:schemeClr val="accent3"/>
                </a:solidFill>
              </a:rPr>
              <a:t>EuroPulse · Source: Eurostat HICP (prc_hicp_minr, prc_hicp_iw, prc_hicp_cw, prc_hicp_ctr), own calculations · data to Sep 2026 · run 2026-10-22 (b70cab4)</a:t>
            </a:r>
            <a:endParaRPr lang="en-US" sz="1000" dirty="0"/>
          </a:p>
        </p:txBody>
      </p:sp>
      <p:sp>
        <p:nvSpPr>
          <p:cNvPr id="25" name="Slide Number Placeholder 0"/>
          <p:cNvSpPr>
            <a:spLocks noGrp="1"/>
          </p:cNvSpPr>
          <p:nvPr>
            <p:ph type="sldNum" sz="quarter" idx="4294967295"/>
          </p:nvPr>
        </p:nvSpPr>
        <p:spPr>
          <a:xfrm>
            <a:off x="11247120" y="6309360"/>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09360"/>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411480"/>
            <a:ext cx="11064240" cy="365760"/>
          </a:xfrm>
          <a:prstGeom prst="rect">
            <a:avLst/>
          </a:prstGeom>
          <a:noFill/>
          <a:ln/>
        </p:spPr>
        <p:txBody>
          <a:bodyPr wrap="square" lIns="0" tIns="0" rIns="0" bIns="0" rtlCol="0" anchor="t"/>
          <a:lstStyle/>
          <a:p>
            <a:pPr indent="0" marL="0">
              <a:buNone/>
            </a:pPr>
            <a:r>
              <a:rPr lang="en-US" sz="1400" b="1" dirty="0">
                <a:solidFill>
                  <a:schemeClr val="accent4"/>
                </a:solidFill>
                <a:latin typeface="Calibri" pitchFamily="34" charset="0"/>
                <a:ea typeface="Calibri" pitchFamily="34" charset="-122"/>
                <a:cs typeface="Calibri" pitchFamily="34" charset="-120"/>
              </a:rPr>
              <a:t>Euro area* headline HICP · Dec 2026 forecast (h = 3 from the Sep 2026 release)</a:t>
            </a:r>
            <a:endParaRPr lang="en-US" sz="1400" dirty="0"/>
          </a:p>
        </p:txBody>
      </p:sp>
      <p:sp>
        <p:nvSpPr>
          <p:cNvPr id="3" name="Text 1"/>
          <p:cNvSpPr/>
          <p:nvPr/>
        </p:nvSpPr>
        <p:spPr>
          <a:xfrm>
            <a:off x="548640" y="777240"/>
            <a:ext cx="11064240" cy="8686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Inflation is seen holding at 3.8% into December</a:t>
            </a:r>
            <a:endParaRPr lang="en-US" sz="3600" dirty="0"/>
          </a:p>
        </p:txBody>
      </p:sp>
      <p:sp>
        <p:nvSpPr>
          <p:cNvPr id="4" name="headline number"/>
          <p:cNvSpPr txBox="1"/>
          <p:nvPr/>
        </p:nvSpPr>
        <p:spPr>
          <a:xfrm>
            <a:off x="548640" y="1828800"/>
            <a:ext cx="3291840" cy="1097280"/>
          </a:xfrm>
          <a:prstGeom prst="rect">
            <a:avLst/>
          </a:prstGeom>
          <a:noFill/>
          <a:ln/>
        </p:spPr>
        <p:txBody>
          <a:bodyPr wrap="square" lIns="0" tIns="0" rIns="0" bIns="0" rtlCol="0" anchor="t"/>
          <a:lstStyle/>
          <a:p>
            <a:pPr indent="0" marL="0">
              <a:buNone/>
            </a:pPr>
            <a:r>
              <a:rPr lang="en-US" sz="7200" b="1" dirty="0">
                <a:solidFill>
                  <a:schemeClr val="bg1"/>
                </a:solidFill>
                <a:latin typeface="Cambria" pitchFamily="34" charset="0"/>
                <a:ea typeface="Cambria" pitchFamily="34" charset="-122"/>
                <a:cs typeface="Cambria" pitchFamily="34" charset="-120"/>
              </a:rPr>
              <a:t>3.8%</a:t>
            </a:r>
            <a:endParaRPr lang="en-US" sz="7200" dirty="0"/>
          </a:p>
        </p:txBody>
      </p:sp>
      <p:sp>
        <p:nvSpPr>
          <p:cNvPr id="5" name="Text 3"/>
          <p:cNvSpPr txBox="1"/>
          <p:nvPr/>
        </p:nvSpPr>
        <p:spPr>
          <a:xfrm>
            <a:off x="548640" y="2926080"/>
            <a:ext cx="4206240" cy="320040"/>
          </a:xfrm>
          <a:prstGeom prst="rect">
            <a:avLst/>
          </a:prstGeom>
          <a:noFill/>
          <a:ln/>
        </p:spPr>
        <p:txBody>
          <a:bodyPr wrap="square" lIns="0" tIns="0" rIns="0" bIns="0" rtlCol="0" anchor="t"/>
          <a:lstStyle/>
          <a:p>
            <a:pPr indent="0" marL="0">
              <a:buNone/>
            </a:pPr>
            <a:r>
              <a:rPr lang="en-US" sz="1400" dirty="0">
                <a:solidFill>
                  <a:schemeClr val="accent4"/>
                </a:solidFill>
              </a:rPr>
              <a:t>point forecast 3.77% · ECB target 2%</a:t>
            </a:r>
            <a:endParaRPr lang="en-US" sz="1400" dirty="0"/>
          </a:p>
        </p:txBody>
      </p:sp>
      <p:sp>
        <p:nvSpPr>
          <p:cNvPr id="6" name="Text 4"/>
          <p:cNvSpPr txBox="1"/>
          <p:nvPr/>
        </p:nvSpPr>
        <p:spPr>
          <a:xfrm>
            <a:off x="548640" y="3246120"/>
            <a:ext cx="4206240" cy="320040"/>
          </a:xfrm>
          <a:prstGeom prst="rect">
            <a:avLst/>
          </a:prstGeom>
          <a:noFill/>
          <a:ln/>
        </p:spPr>
        <p:txBody>
          <a:bodyPr wrap="square" lIns="0" tIns="0" rIns="0" bIns="0" rtlCol="0" anchor="t"/>
          <a:lstStyle/>
          <a:p>
            <a:pPr indent="0" marL="0">
              <a:buNone/>
            </a:pPr>
            <a:r>
              <a:rPr lang="en-US" sz="1400" dirty="0">
                <a:solidFill>
                  <a:schemeClr val="accent4"/>
                </a:solidFill>
              </a:rPr>
              <a:t>68% band 3.4–4.2% · 90% band 3.0–5.1%</a:t>
            </a:r>
            <a:endParaRPr lang="en-US" sz="1400" dirty="0"/>
          </a:p>
        </p:txBody>
      </p:sp>
      <p:sp>
        <p:nvSpPr>
          <p:cNvPr id="7" name="driver value 0"/>
          <p:cNvSpPr txBox="1"/>
          <p:nvPr/>
        </p:nvSpPr>
        <p:spPr>
          <a:xfrm>
            <a:off x="548640" y="3794760"/>
            <a:ext cx="1417320" cy="457200"/>
          </a:xfrm>
          <a:prstGeom prst="rect">
            <a:avLst/>
          </a:prstGeom>
          <a:noFill/>
          <a:ln/>
        </p:spPr>
        <p:txBody>
          <a:bodyPr wrap="square" lIns="0" tIns="0" rIns="0" bIns="0" rtlCol="0" anchor="t"/>
          <a:lstStyle/>
          <a:p>
            <a:pPr indent="0" marL="0">
              <a:buNone/>
            </a:pPr>
            <a:r>
              <a:rPr lang="en-US" sz="2000" b="1" dirty="0">
                <a:solidFill>
                  <a:schemeClr val="accent2"/>
                </a:solidFill>
              </a:rPr>
              <a:t>−0.11 pp</a:t>
            </a:r>
            <a:endParaRPr lang="en-US" sz="2000" dirty="0"/>
          </a:p>
        </p:txBody>
      </p:sp>
      <p:sp>
        <p:nvSpPr>
          <p:cNvPr id="8" name="driver label 0"/>
          <p:cNvSpPr txBox="1"/>
          <p:nvPr/>
        </p:nvSpPr>
        <p:spPr>
          <a:xfrm>
            <a:off x="2011680" y="3831336"/>
            <a:ext cx="3017520" cy="502920"/>
          </a:xfrm>
          <a:prstGeom prst="rect">
            <a:avLst/>
          </a:prstGeom>
          <a:noFill/>
          <a:ln/>
        </p:spPr>
        <p:txBody>
          <a:bodyPr wrap="square" lIns="0" tIns="0" rIns="0" bIns="0" rtlCol="0" anchor="t"/>
          <a:lstStyle/>
          <a:p>
            <a:pPr indent="0" marL="0">
              <a:buNone/>
            </a:pPr>
            <a:r>
              <a:rPr lang="en-US" sz="1300" dirty="0">
                <a:solidFill>
                  <a:schemeClr val="bg2"/>
                </a:solidFill>
              </a:rPr>
              <a:t>base effect: last year's monthly changes leaving the window, known today</a:t>
            </a:r>
            <a:endParaRPr lang="en-US" sz="1300" dirty="0"/>
          </a:p>
        </p:txBody>
      </p:sp>
      <p:sp>
        <p:nvSpPr>
          <p:cNvPr id="9" name="driver value 1"/>
          <p:cNvSpPr txBox="1"/>
          <p:nvPr/>
        </p:nvSpPr>
        <p:spPr>
          <a:xfrm>
            <a:off x="548640" y="4361688"/>
            <a:ext cx="1417320" cy="457200"/>
          </a:xfrm>
          <a:prstGeom prst="rect">
            <a:avLst/>
          </a:prstGeom>
          <a:noFill/>
          <a:ln/>
        </p:spPr>
        <p:txBody>
          <a:bodyPr wrap="square" lIns="0" tIns="0" rIns="0" bIns="0" rtlCol="0" anchor="t"/>
          <a:lstStyle/>
          <a:p>
            <a:pPr indent="0" marL="0">
              <a:buNone/>
            </a:pPr>
            <a:r>
              <a:rPr lang="en-US" sz="2000" b="1" dirty="0">
                <a:solidFill>
                  <a:schemeClr val="accent2"/>
                </a:solidFill>
              </a:rPr>
              <a:t>+0.12 pp</a:t>
            </a:r>
            <a:endParaRPr lang="en-US" sz="2000" dirty="0"/>
          </a:p>
        </p:txBody>
      </p:sp>
      <p:sp>
        <p:nvSpPr>
          <p:cNvPr id="10" name="driver label 1"/>
          <p:cNvSpPr txBox="1"/>
          <p:nvPr/>
        </p:nvSpPr>
        <p:spPr>
          <a:xfrm>
            <a:off x="2011680" y="4398264"/>
            <a:ext cx="3017520" cy="502920"/>
          </a:xfrm>
          <a:prstGeom prst="rect">
            <a:avLst/>
          </a:prstGeom>
          <a:noFill/>
          <a:ln/>
        </p:spPr>
        <p:txBody>
          <a:bodyPr wrap="square" lIns="0" tIns="0" rIns="0" bIns="0" rtlCol="0" anchor="t"/>
          <a:lstStyle/>
          <a:p>
            <a:pPr indent="0" marL="0">
              <a:buNone/>
            </a:pPr>
            <a:r>
              <a:rPr lang="en-US" sz="1300" dirty="0">
                <a:solidFill>
                  <a:schemeClr val="bg2"/>
                </a:solidFill>
              </a:rPr>
              <a:t>cumulative momentum: new monthly changes to December, forecast</a:t>
            </a:r>
            <a:endParaRPr lang="en-US" sz="1300" dirty="0"/>
          </a:p>
        </p:txBody>
      </p:sp>
      <p:sp>
        <p:nvSpPr>
          <p:cNvPr id="11" name="driver value 2"/>
          <p:cNvSpPr txBox="1"/>
          <p:nvPr/>
        </p:nvSpPr>
        <p:spPr>
          <a:xfrm>
            <a:off x="548640" y="4928616"/>
            <a:ext cx="1417320" cy="457200"/>
          </a:xfrm>
          <a:prstGeom prst="rect">
            <a:avLst/>
          </a:prstGeom>
          <a:noFill/>
          <a:ln/>
        </p:spPr>
        <p:txBody>
          <a:bodyPr wrap="square" lIns="0" tIns="0" rIns="0" bIns="0" rtlCol="0" anchor="t"/>
          <a:lstStyle/>
          <a:p>
            <a:pPr indent="0" marL="0">
              <a:buNone/>
            </a:pPr>
            <a:r>
              <a:rPr lang="en-US" sz="2000" b="1" dirty="0">
                <a:solidFill>
                  <a:schemeClr val="accent2"/>
                </a:solidFill>
              </a:rPr>
              <a:t>1.52 / 1.30</a:t>
            </a:r>
            <a:endParaRPr lang="en-US" sz="2000" dirty="0"/>
          </a:p>
        </p:txBody>
      </p:sp>
      <p:sp>
        <p:nvSpPr>
          <p:cNvPr id="12" name="driver label 2"/>
          <p:cNvSpPr txBox="1"/>
          <p:nvPr/>
        </p:nvSpPr>
        <p:spPr>
          <a:xfrm>
            <a:off x="2011680" y="4965192"/>
            <a:ext cx="3017520" cy="502920"/>
          </a:xfrm>
          <a:prstGeom prst="rect">
            <a:avLst/>
          </a:prstGeom>
          <a:noFill/>
          <a:ln/>
        </p:spPr>
        <p:txBody>
          <a:bodyPr wrap="square" lIns="0" tIns="0" rIns="0" bIns="0" rtlCol="0" anchor="t"/>
          <a:lstStyle/>
          <a:p>
            <a:pPr indent="0" marL="0">
              <a:buNone/>
            </a:pPr>
            <a:r>
              <a:rPr lang="en-US" sz="1300" dirty="0">
                <a:solidFill>
                  <a:schemeClr val="bg2"/>
                </a:solidFill>
              </a:rPr>
              <a:t>pp from services and fuels, the largest contributors (fuel prices +32.3% y/y)</a:t>
            </a:r>
            <a:endParaRPr lang="en-US" sz="1300" dirty="0"/>
          </a:p>
        </p:txBody>
      </p:sp>
      <p:sp>
        <p:nvSpPr>
          <p:cNvPr id="13" name="driver value 3"/>
          <p:cNvSpPr txBox="1"/>
          <p:nvPr/>
        </p:nvSpPr>
        <p:spPr>
          <a:xfrm>
            <a:off x="548640" y="5495544"/>
            <a:ext cx="1417320" cy="457200"/>
          </a:xfrm>
          <a:prstGeom prst="rect">
            <a:avLst/>
          </a:prstGeom>
          <a:noFill/>
          <a:ln/>
        </p:spPr>
        <p:txBody>
          <a:bodyPr wrap="square" lIns="0" tIns="0" rIns="0" bIns="0" rtlCol="0" anchor="t"/>
          <a:lstStyle/>
          <a:p>
            <a:pPr indent="0" marL="0">
              <a:buNone/>
            </a:pPr>
            <a:r>
              <a:rPr lang="en-US" sz="2000" b="1" dirty="0">
                <a:solidFill>
                  <a:schemeClr val="accent2"/>
                </a:solidFill>
              </a:rPr>
              <a:t>27%</a:t>
            </a:r>
            <a:endParaRPr lang="en-US" sz="2000" dirty="0"/>
          </a:p>
        </p:txBody>
      </p:sp>
      <p:sp>
        <p:nvSpPr>
          <p:cNvPr id="14" name="driver label 3"/>
          <p:cNvSpPr txBox="1"/>
          <p:nvPr/>
        </p:nvSpPr>
        <p:spPr>
          <a:xfrm>
            <a:off x="2011680" y="5532120"/>
            <a:ext cx="3017520" cy="502920"/>
          </a:xfrm>
          <a:prstGeom prst="rect">
            <a:avLst/>
          </a:prstGeom>
          <a:noFill/>
          <a:ln/>
        </p:spPr>
        <p:txBody>
          <a:bodyPr wrap="square" lIns="0" tIns="0" rIns="0" bIns="0" rtlCol="0" anchor="t"/>
          <a:lstStyle/>
          <a:p>
            <a:pPr indent="0" marL="0">
              <a:buNone/>
            </a:pPr>
            <a:r>
              <a:rPr lang="en-US" sz="1300" dirty="0">
                <a:solidFill>
                  <a:schemeClr val="bg2"/>
                </a:solidFill>
              </a:rPr>
              <a:t>probability that December prints above 4%, from the model's own past errors</a:t>
            </a:r>
            <a:endParaRPr lang="en-US" sz="1300" dirty="0"/>
          </a:p>
        </p:txBody>
      </p:sp>
      <p:sp>
        <p:nvSpPr>
          <p:cNvPr id="15" name="chart card"/>
          <p:cNvSpPr/>
          <p:nvPr/>
        </p:nvSpPr>
        <p:spPr>
          <a:xfrm>
            <a:off x="5349240" y="1783080"/>
            <a:ext cx="6291072" cy="4343400"/>
          </a:xfrm>
          <a:prstGeom prst="roundRect">
            <a:avLst>
              <a:gd name="adj" fmla="val 2526"/>
            </a:avLst>
          </a:prstGeom>
          <a:solidFill>
            <a:schemeClr val="bg1"/>
          </a:solidFill>
          <a:ln w="12700">
            <a:solidFill>
              <a:schemeClr val="bg1"/>
            </a:solidFill>
            <a:prstDash val="solid"/>
          </a:ln>
        </p:spPr>
      </p:sp>
      <p:graphicFrame>
        <p:nvGraphicFramePr>
          <p:cNvPr id="16" name="headline forecast chart" descr=""/>
          <p:cNvGraphicFramePr/>
          <p:nvPr/>
        </p:nvGraphicFramePr>
        <p:xfrm>
          <a:off x="5486400" y="1874520"/>
          <a:ext cx="6035040" cy="3749040"/>
        </p:xfrm>
        <a:graphic xmlns:a="http://schemas.openxmlformats.org/drawingml/2006/main">
          <a:graphicData uri="http://schemas.openxmlformats.org/drawingml/2006/chart">
            <c:chart xmlns:c="http://schemas.openxmlformats.org/drawingml/2006/chart" r:id="rId1"/>
          </a:graphicData>
        </a:graphic>
      </p:graphicFrame>
      <p:sp>
        <p:nvSpPr>
          <p:cNvPr id="17" name="chart key"/>
          <p:cNvSpPr txBox="1"/>
          <p:nvPr/>
        </p:nvSpPr>
        <p:spPr>
          <a:xfrm>
            <a:off x="5715000" y="5650992"/>
            <a:ext cx="5760720" cy="320040"/>
          </a:xfrm>
          <a:prstGeom prst="rect">
            <a:avLst/>
          </a:prstGeom>
          <a:noFill/>
          <a:ln/>
        </p:spPr>
        <p:txBody>
          <a:bodyPr wrap="square" lIns="0" tIns="0" rIns="0" bIns="0" rtlCol="0" anchor="t"/>
          <a:lstStyle/>
          <a:p>
            <a:pPr indent="0" marL="0">
              <a:buNone/>
            </a:pPr>
            <a:r>
              <a:rPr lang="en-US" sz="1200" b="1" dirty="0">
                <a:solidFill>
                  <a:srgbClr val="0F1B2D"/>
                </a:solidFill>
              </a:rPr>
              <a:t>Actual</a:t>
            </a:r>
            <a:pPr indent="0" marL="0">
              <a:buNone/>
            </a:pPr>
            <a:r>
              <a:rPr lang="en-US" sz="1200" dirty="0">
                <a:solidFill>
                  <a:schemeClr val="tx1"/>
                </a:solidFill>
              </a:rPr>
              <a:t>   </a:t>
            </a:r>
            <a:pPr indent="0" marL="0">
              <a:buNone/>
            </a:pPr>
            <a:r>
              <a:rPr lang="en-US" sz="1200" b="1" dirty="0">
                <a:solidFill>
                  <a:srgbClr val="2A78D6"/>
                </a:solidFill>
              </a:rPr>
              <a:t>Forecast</a:t>
            </a:r>
            <a:pPr indent="0" marL="0">
              <a:buNone/>
            </a:pPr>
            <a:r>
              <a:rPr lang="en-US" sz="1200" dirty="0">
                <a:solidFill>
                  <a:schemeClr val="tx1"/>
                </a:solidFill>
              </a:rPr>
              <a:t>   </a:t>
            </a:r>
            <a:pPr indent="0" marL="0">
              <a:buNone/>
            </a:pPr>
            <a:r>
              <a:rPr lang="en-US" sz="1200" b="1" dirty="0">
                <a:solidFill>
                  <a:srgbClr val="7FAEE6"/>
                </a:solidFill>
              </a:rPr>
              <a:t>68% band</a:t>
            </a:r>
            <a:pPr indent="0" marL="0">
              <a:buNone/>
            </a:pPr>
            <a:r>
              <a:rPr lang="en-US" sz="1200" dirty="0">
                <a:solidFill>
                  <a:schemeClr val="tx1"/>
                </a:solidFill>
              </a:rPr>
              <a:t>   </a:t>
            </a:r>
            <a:pPr indent="0" marL="0">
              <a:buNone/>
            </a:pPr>
            <a:r>
              <a:rPr lang="en-US" sz="1200" b="1" dirty="0">
                <a:solidFill>
                  <a:srgbClr val="A9C7EE"/>
                </a:solidFill>
              </a:rPr>
              <a:t>90% band</a:t>
            </a:r>
            <a:endParaRPr lang="en-US" sz="1200" dirty="0"/>
          </a:p>
        </p:txBody>
      </p:sp>
      <p:sp>
        <p:nvSpPr>
          <p:cNvPr id="25" name="Slide Number Placeholder 0"/>
          <p:cNvSpPr>
            <a:spLocks noGrp="1"/>
          </p:cNvSpPr>
          <p:nvPr>
            <p:ph type="sldNum" sz="quarter" idx="4294967295"/>
          </p:nvPr>
        </p:nvSpPr>
        <p:spPr>
          <a:xfrm>
            <a:off x="11247120" y="6309360"/>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11480"/>
            <a:ext cx="11064240" cy="36576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Method and validation</a:t>
            </a:r>
            <a:endParaRPr lang="en-US" sz="1400" dirty="0"/>
          </a:p>
        </p:txBody>
      </p:sp>
      <p:sp>
        <p:nvSpPr>
          <p:cNvPr id="3" name="Text 1"/>
          <p:cNvSpPr/>
          <p:nvPr/>
        </p:nvSpPr>
        <p:spPr>
          <a:xfrm>
            <a:off x="548640" y="777240"/>
            <a:ext cx="11064240" cy="868680"/>
          </a:xfrm>
          <a:prstGeom prst="rect">
            <a:avLst/>
          </a:prstGeom>
          <a:noFill/>
          <a:ln/>
        </p:spPr>
        <p:txBody>
          <a:bodyPr wrap="square" lIns="0" tIns="0" rIns="0" bIns="0" rtlCol="0" anchor="t"/>
          <a:lstStyle/>
          <a:p>
            <a:pPr indent="0" marL="0">
              <a:buNone/>
            </a:pPr>
            <a:r>
              <a:rPr lang="en-US" sz="3400" b="1" dirty="0">
                <a:solidFill>
                  <a:schemeClr val="tx2"/>
                </a:solidFill>
                <a:latin typeface="Cambria" pitchFamily="34" charset="0"/>
                <a:ea typeface="Cambria" pitchFamily="34" charset="-122"/>
                <a:cs typeface="Cambria" pitchFamily="34" charset="-120"/>
              </a:rPr>
              <a:t>Every number is checked before it is shown</a:t>
            </a:r>
            <a:endParaRPr lang="en-US" sz="3400" dirty="0"/>
          </a:p>
        </p:txBody>
      </p:sp>
      <p:sp>
        <p:nvSpPr>
          <p:cNvPr id="4" name="step 1 badge"/>
          <p:cNvSpPr/>
          <p:nvPr/>
        </p:nvSpPr>
        <p:spPr>
          <a:xfrm>
            <a:off x="548640" y="1874520"/>
            <a:ext cx="420624" cy="420624"/>
          </a:xfrm>
          <a:prstGeom prst="ellipse">
            <a:avLst/>
          </a:prstGeom>
          <a:solidFill>
            <a:schemeClr val="accent1"/>
          </a:solidFill>
          <a:ln w="12700">
            <a:solidFill>
              <a:schemeClr val="accent1"/>
            </a:solidFill>
            <a:prstDash val="solid"/>
          </a:ln>
        </p:spPr>
      </p:sp>
      <p:sp>
        <p:nvSpPr>
          <p:cNvPr id="5" name="Text 3"/>
          <p:cNvSpPr txBox="1"/>
          <p:nvPr/>
        </p:nvSpPr>
        <p:spPr>
          <a:xfrm>
            <a:off x="548640" y="18745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097280" y="1856232"/>
            <a:ext cx="3063240" cy="292608"/>
          </a:xfrm>
          <a:prstGeom prst="rect">
            <a:avLst/>
          </a:prstGeom>
          <a:noFill/>
          <a:ln/>
        </p:spPr>
        <p:txBody>
          <a:bodyPr wrap="square" lIns="0" tIns="0" rIns="0" bIns="0" rtlCol="0" anchor="t"/>
          <a:lstStyle/>
          <a:p>
            <a:pPr indent="0" marL="0">
              <a:buNone/>
            </a:pPr>
            <a:r>
              <a:rPr lang="en-US" sz="1600" b="1" dirty="0">
                <a:solidFill>
                  <a:schemeClr val="tx2"/>
                </a:solidFill>
              </a:rPr>
              <a:t>Eurostat API, no manual files</a:t>
            </a:r>
            <a:endParaRPr lang="en-US" sz="1600" dirty="0"/>
          </a:p>
        </p:txBody>
      </p:sp>
      <p:sp>
        <p:nvSpPr>
          <p:cNvPr id="7" name="Text 5"/>
          <p:cNvSpPr txBox="1"/>
          <p:nvPr/>
        </p:nvSpPr>
        <p:spPr>
          <a:xfrm>
            <a:off x="1097280" y="2167128"/>
            <a:ext cx="3063240" cy="566928"/>
          </a:xfrm>
          <a:prstGeom prst="rect">
            <a:avLst/>
          </a:prstGeom>
          <a:noFill/>
          <a:ln/>
        </p:spPr>
        <p:txBody>
          <a:bodyPr wrap="square" lIns="0" tIns="0" rIns="0" bIns="0" rtlCol="0" anchor="t"/>
          <a:lstStyle/>
          <a:p>
            <a:pPr indent="0" marL="0">
              <a:buNone/>
            </a:pPr>
            <a:r>
              <a:rPr lang="en-US" sz="1300" dirty="0">
                <a:solidFill>
                  <a:schemeClr val="accent3"/>
                </a:solidFill>
              </a:rPr>
              <a:t>HICP index 2025 = 100 by COICOP ver.2 component and country, item and country weights, official contributions.</a:t>
            </a:r>
            <a:endParaRPr lang="en-US" sz="1300" dirty="0"/>
          </a:p>
        </p:txBody>
      </p:sp>
      <p:sp>
        <p:nvSpPr>
          <p:cNvPr id="8" name="step 2 badge"/>
          <p:cNvSpPr/>
          <p:nvPr/>
        </p:nvSpPr>
        <p:spPr>
          <a:xfrm>
            <a:off x="4343400" y="1874520"/>
            <a:ext cx="420624" cy="420624"/>
          </a:xfrm>
          <a:prstGeom prst="ellipse">
            <a:avLst/>
          </a:prstGeom>
          <a:solidFill>
            <a:schemeClr val="accent1"/>
          </a:solidFill>
          <a:ln w="12700">
            <a:solidFill>
              <a:schemeClr val="accent1"/>
            </a:solidFill>
            <a:prstDash val="solid"/>
          </a:ln>
        </p:spPr>
      </p:sp>
      <p:sp>
        <p:nvSpPr>
          <p:cNvPr id="9" name="Text 7"/>
          <p:cNvSpPr txBox="1"/>
          <p:nvPr/>
        </p:nvSpPr>
        <p:spPr>
          <a:xfrm>
            <a:off x="4343400" y="187452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8"/>
          <p:cNvSpPr txBox="1"/>
          <p:nvPr/>
        </p:nvSpPr>
        <p:spPr>
          <a:xfrm>
            <a:off x="4892040" y="1856232"/>
            <a:ext cx="3063240" cy="292608"/>
          </a:xfrm>
          <a:prstGeom prst="rect">
            <a:avLst/>
          </a:prstGeom>
          <a:noFill/>
          <a:ln/>
        </p:spPr>
        <p:txBody>
          <a:bodyPr wrap="square" lIns="0" tIns="0" rIns="0" bIns="0" rtlCol="0" anchor="t"/>
          <a:lstStyle/>
          <a:p>
            <a:pPr indent="0" marL="0">
              <a:buNone/>
            </a:pPr>
            <a:r>
              <a:rPr lang="en-US" sz="1600" b="1" dirty="0">
                <a:solidFill>
                  <a:schemeClr val="tx2"/>
                </a:solidFill>
              </a:rPr>
              <a:t>9 validation gates</a:t>
            </a:r>
            <a:endParaRPr lang="en-US" sz="1600" dirty="0"/>
          </a:p>
        </p:txBody>
      </p:sp>
      <p:sp>
        <p:nvSpPr>
          <p:cNvPr id="11" name="Text 9"/>
          <p:cNvSpPr txBox="1"/>
          <p:nvPr/>
        </p:nvSpPr>
        <p:spPr>
          <a:xfrm>
            <a:off x="4892040" y="2167128"/>
            <a:ext cx="3063240" cy="566928"/>
          </a:xfrm>
          <a:prstGeom prst="rect">
            <a:avLst/>
          </a:prstGeom>
          <a:noFill/>
          <a:ln/>
        </p:spPr>
        <p:txBody>
          <a:bodyPr wrap="square" lIns="0" tIns="0" rIns="0" bIns="0" rtlCol="0" anchor="t"/>
          <a:lstStyle/>
          <a:p>
            <a:pPr indent="0" marL="0">
              <a:buNone/>
            </a:pPr>
            <a:r>
              <a:rPr lang="en-US" sz="1300" dirty="0">
                <a:solidFill>
                  <a:schemeClr val="accent3"/>
                </a:solidFill>
              </a:rPr>
              <a:t>8 pass, 1 warning (V8), 0 failures. A failed critical gate stops the run.</a:t>
            </a:r>
            <a:endParaRPr lang="en-US" sz="1300" dirty="0"/>
          </a:p>
        </p:txBody>
      </p:sp>
      <p:sp>
        <p:nvSpPr>
          <p:cNvPr id="12" name="step 3 badge"/>
          <p:cNvSpPr/>
          <p:nvPr/>
        </p:nvSpPr>
        <p:spPr>
          <a:xfrm>
            <a:off x="548640" y="3108960"/>
            <a:ext cx="420624" cy="420624"/>
          </a:xfrm>
          <a:prstGeom prst="ellipse">
            <a:avLst/>
          </a:prstGeom>
          <a:solidFill>
            <a:schemeClr val="accent1"/>
          </a:solidFill>
          <a:ln w="12700">
            <a:solidFill>
              <a:schemeClr val="accent1"/>
            </a:solidFill>
            <a:prstDash val="solid"/>
          </a:ln>
        </p:spPr>
      </p:sp>
      <p:sp>
        <p:nvSpPr>
          <p:cNvPr id="13" name="Text 11"/>
          <p:cNvSpPr txBox="1"/>
          <p:nvPr/>
        </p:nvSpPr>
        <p:spPr>
          <a:xfrm>
            <a:off x="548640" y="3108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12"/>
          <p:cNvSpPr txBox="1"/>
          <p:nvPr/>
        </p:nvSpPr>
        <p:spPr>
          <a:xfrm>
            <a:off x="1097280" y="3090672"/>
            <a:ext cx="3063240" cy="292608"/>
          </a:xfrm>
          <a:prstGeom prst="rect">
            <a:avLst/>
          </a:prstGeom>
          <a:noFill/>
          <a:ln/>
        </p:spPr>
        <p:txBody>
          <a:bodyPr wrap="square" lIns="0" tIns="0" rIns="0" bIns="0" rtlCol="0" anchor="t"/>
          <a:lstStyle/>
          <a:p>
            <a:pPr indent="0" marL="0">
              <a:buNone/>
            </a:pPr>
            <a:r>
              <a:rPr lang="en-US" sz="1600" b="1" dirty="0">
                <a:solidFill>
                  <a:schemeClr val="tx2"/>
                </a:solidFill>
              </a:rPr>
              <a:t>Rebuild Eurostat's headline</a:t>
            </a:r>
            <a:endParaRPr lang="en-US" sz="1600" dirty="0"/>
          </a:p>
        </p:txBody>
      </p:sp>
      <p:sp>
        <p:nvSpPr>
          <p:cNvPr id="15" name="Text 13"/>
          <p:cNvSpPr txBox="1"/>
          <p:nvPr/>
        </p:nvSpPr>
        <p:spPr>
          <a:xfrm>
            <a:off x="1097280" y="3401568"/>
            <a:ext cx="3063240" cy="566928"/>
          </a:xfrm>
          <a:prstGeom prst="rect">
            <a:avLst/>
          </a:prstGeom>
          <a:noFill/>
          <a:ln/>
        </p:spPr>
        <p:txBody>
          <a:bodyPr wrap="square" lIns="0" tIns="0" rIns="0" bIns="0" rtlCol="0" anchor="t"/>
          <a:lstStyle/>
          <a:p>
            <a:pPr indent="0" marL="0">
              <a:buNone/>
            </a:pPr>
            <a:r>
              <a:rPr lang="en-US" sz="1300" dirty="0">
                <a:solidFill>
                  <a:schemeClr val="accent3"/>
                </a:solidFill>
              </a:rPr>
              <a:t>Chain-linked Laspeyres, December link: 309 months within 0.030 pp; contributions within 0.009 pp.</a:t>
            </a:r>
            <a:endParaRPr lang="en-US" sz="1300" dirty="0"/>
          </a:p>
        </p:txBody>
      </p:sp>
      <p:sp>
        <p:nvSpPr>
          <p:cNvPr id="16" name="step 4 badge"/>
          <p:cNvSpPr/>
          <p:nvPr/>
        </p:nvSpPr>
        <p:spPr>
          <a:xfrm>
            <a:off x="4343400" y="3108960"/>
            <a:ext cx="420624" cy="420624"/>
          </a:xfrm>
          <a:prstGeom prst="ellipse">
            <a:avLst/>
          </a:prstGeom>
          <a:solidFill>
            <a:schemeClr val="accent1"/>
          </a:solidFill>
          <a:ln w="12700">
            <a:solidFill>
              <a:schemeClr val="accent1"/>
            </a:solidFill>
            <a:prstDash val="solid"/>
          </a:ln>
        </p:spPr>
      </p:sp>
      <p:sp>
        <p:nvSpPr>
          <p:cNvPr id="17" name="Text 15"/>
          <p:cNvSpPr txBox="1"/>
          <p:nvPr/>
        </p:nvSpPr>
        <p:spPr>
          <a:xfrm>
            <a:off x="4343400" y="3108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Text 16"/>
          <p:cNvSpPr txBox="1"/>
          <p:nvPr/>
        </p:nvSpPr>
        <p:spPr>
          <a:xfrm>
            <a:off x="4892040" y="3090672"/>
            <a:ext cx="3063240" cy="292608"/>
          </a:xfrm>
          <a:prstGeom prst="rect">
            <a:avLst/>
          </a:prstGeom>
          <a:noFill/>
          <a:ln/>
        </p:spPr>
        <p:txBody>
          <a:bodyPr wrap="square" lIns="0" tIns="0" rIns="0" bIns="0" rtlCol="0" anchor="t"/>
          <a:lstStyle/>
          <a:p>
            <a:pPr indent="0" marL="0">
              <a:buNone/>
            </a:pPr>
            <a:r>
              <a:rPr lang="en-US" sz="1600" b="1" dirty="0">
                <a:solidFill>
                  <a:schemeClr val="tx2"/>
                </a:solidFill>
              </a:rPr>
              <a:t>Bottom-up forecast</a:t>
            </a:r>
            <a:endParaRPr lang="en-US" sz="1600" dirty="0"/>
          </a:p>
        </p:txBody>
      </p:sp>
      <p:sp>
        <p:nvSpPr>
          <p:cNvPr id="19" name="Text 17"/>
          <p:cNvSpPr txBox="1"/>
          <p:nvPr/>
        </p:nvSpPr>
        <p:spPr>
          <a:xfrm>
            <a:off x="4892040" y="3401568"/>
            <a:ext cx="3063240" cy="566928"/>
          </a:xfrm>
          <a:prstGeom prst="rect">
            <a:avLst/>
          </a:prstGeom>
          <a:noFill/>
          <a:ln/>
        </p:spPr>
        <p:txBody>
          <a:bodyPr wrap="square" lIns="0" tIns="0" rIns="0" bIns="0" rtlCol="0" anchor="t"/>
          <a:lstStyle/>
          <a:p>
            <a:pPr indent="0" marL="0">
              <a:buNone/>
            </a:pPr>
            <a:r>
              <a:rPr lang="en-US" sz="1300" dirty="0">
                <a:solidFill>
                  <a:schemeClr val="accent3"/>
                </a:solidFill>
              </a:rPr>
              <a:t>Six components, each with its own model, aggregated with the weights known at the forecast date.</a:t>
            </a:r>
            <a:endParaRPr lang="en-US" sz="1300" dirty="0"/>
          </a:p>
        </p:txBody>
      </p:sp>
      <p:sp>
        <p:nvSpPr>
          <p:cNvPr id="20" name="step 5 badge"/>
          <p:cNvSpPr/>
          <p:nvPr/>
        </p:nvSpPr>
        <p:spPr>
          <a:xfrm>
            <a:off x="548640" y="4343400"/>
            <a:ext cx="420624" cy="420624"/>
          </a:xfrm>
          <a:prstGeom prst="ellipse">
            <a:avLst/>
          </a:prstGeom>
          <a:solidFill>
            <a:schemeClr val="accent1"/>
          </a:solidFill>
          <a:ln w="12700">
            <a:solidFill>
              <a:schemeClr val="accent1"/>
            </a:solidFill>
            <a:prstDash val="solid"/>
          </a:ln>
        </p:spPr>
      </p:sp>
      <p:sp>
        <p:nvSpPr>
          <p:cNvPr id="21" name="Text 19"/>
          <p:cNvSpPr txBox="1"/>
          <p:nvPr/>
        </p:nvSpPr>
        <p:spPr>
          <a:xfrm>
            <a:off x="548640" y="434340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2" name="Text 20"/>
          <p:cNvSpPr txBox="1"/>
          <p:nvPr/>
        </p:nvSpPr>
        <p:spPr>
          <a:xfrm>
            <a:off x="1097280" y="4325112"/>
            <a:ext cx="3063240" cy="292608"/>
          </a:xfrm>
          <a:prstGeom prst="rect">
            <a:avLst/>
          </a:prstGeom>
          <a:noFill/>
          <a:ln/>
        </p:spPr>
        <p:txBody>
          <a:bodyPr wrap="square" lIns="0" tIns="0" rIns="0" bIns="0" rtlCol="0" anchor="t"/>
          <a:lstStyle/>
          <a:p>
            <a:pPr indent="0" marL="0">
              <a:buNone/>
            </a:pPr>
            <a:r>
              <a:rPr lang="en-US" sz="1600" b="1" dirty="0">
                <a:solidFill>
                  <a:schemeClr val="tx2"/>
                </a:solidFill>
              </a:rPr>
              <a:t>Pre-registered tests</a:t>
            </a:r>
            <a:endParaRPr lang="en-US" sz="1600" dirty="0"/>
          </a:p>
        </p:txBody>
      </p:sp>
      <p:sp>
        <p:nvSpPr>
          <p:cNvPr id="23" name="Text 21"/>
          <p:cNvSpPr txBox="1"/>
          <p:nvPr/>
        </p:nvSpPr>
        <p:spPr>
          <a:xfrm>
            <a:off x="1097280" y="4636008"/>
            <a:ext cx="3063240" cy="566928"/>
          </a:xfrm>
          <a:prstGeom prst="rect">
            <a:avLst/>
          </a:prstGeom>
          <a:noFill/>
          <a:ln/>
        </p:spPr>
        <p:txBody>
          <a:bodyPr wrap="square" lIns="0" tIns="0" rIns="0" bIns="0" rtlCol="0" anchor="t"/>
          <a:lstStyle/>
          <a:p>
            <a:pPr indent="0" marL="0">
              <a:buNone/>
            </a:pPr>
            <a:r>
              <a:rPr lang="en-US" sz="1300" dirty="0">
                <a:solidFill>
                  <a:schemeClr val="accent3"/>
                </a:solidFill>
              </a:rPr>
              <a:t>Rules written and committed before results: 4 model rounds, Diebold-Mariano with Holm correction.</a:t>
            </a:r>
            <a:endParaRPr lang="en-US" sz="1300" dirty="0"/>
          </a:p>
        </p:txBody>
      </p:sp>
      <p:sp>
        <p:nvSpPr>
          <p:cNvPr id="24" name="step 6 badge"/>
          <p:cNvSpPr/>
          <p:nvPr/>
        </p:nvSpPr>
        <p:spPr>
          <a:xfrm>
            <a:off x="4343400" y="4343400"/>
            <a:ext cx="420624" cy="420624"/>
          </a:xfrm>
          <a:prstGeom prst="ellipse">
            <a:avLst/>
          </a:prstGeom>
          <a:solidFill>
            <a:schemeClr val="accent1"/>
          </a:solidFill>
          <a:ln w="12700">
            <a:solidFill>
              <a:schemeClr val="accent1"/>
            </a:solidFill>
            <a:prstDash val="solid"/>
          </a:ln>
        </p:spPr>
      </p:sp>
      <p:sp>
        <p:nvSpPr>
          <p:cNvPr id="25" name="Text 23"/>
          <p:cNvSpPr txBox="1"/>
          <p:nvPr/>
        </p:nvSpPr>
        <p:spPr>
          <a:xfrm>
            <a:off x="4343400" y="434340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6" name="Text 24"/>
          <p:cNvSpPr txBox="1"/>
          <p:nvPr/>
        </p:nvSpPr>
        <p:spPr>
          <a:xfrm>
            <a:off x="4892040" y="4325112"/>
            <a:ext cx="3063240" cy="292608"/>
          </a:xfrm>
          <a:prstGeom prst="rect">
            <a:avLst/>
          </a:prstGeom>
          <a:noFill/>
          <a:ln/>
        </p:spPr>
        <p:txBody>
          <a:bodyPr wrap="square" lIns="0" tIns="0" rIns="0" bIns="0" rtlCol="0" anchor="t"/>
          <a:lstStyle/>
          <a:p>
            <a:pPr indent="0" marL="0">
              <a:buNone/>
            </a:pPr>
            <a:r>
              <a:rPr lang="en-US" sz="1600" b="1" dirty="0">
                <a:solidFill>
                  <a:schemeClr val="tx2"/>
                </a:solidFill>
              </a:rPr>
              <a:t>Structured outputs</a:t>
            </a:r>
            <a:endParaRPr lang="en-US" sz="1600" dirty="0"/>
          </a:p>
        </p:txBody>
      </p:sp>
      <p:sp>
        <p:nvSpPr>
          <p:cNvPr id="27" name="Text 25"/>
          <p:cNvSpPr txBox="1"/>
          <p:nvPr/>
        </p:nvSpPr>
        <p:spPr>
          <a:xfrm>
            <a:off x="4892040" y="4636008"/>
            <a:ext cx="3063240" cy="566928"/>
          </a:xfrm>
          <a:prstGeom prst="rect">
            <a:avLst/>
          </a:prstGeom>
          <a:noFill/>
          <a:ln/>
        </p:spPr>
        <p:txBody>
          <a:bodyPr wrap="square" lIns="0" tIns="0" rIns="0" bIns="0" rtlCol="0" anchor="t"/>
          <a:lstStyle/>
          <a:p>
            <a:pPr indent="0" marL="0">
              <a:buNone/>
            </a:pPr>
            <a:r>
              <a:rPr lang="en-US" sz="1300" dirty="0">
                <a:solidFill>
                  <a:schemeClr val="accent3"/>
                </a:solidFill>
              </a:rPr>
              <a:t>Schema-validated JSON for every result, a hash-chained forecast ledger, one offline dashboard.</a:t>
            </a:r>
            <a:endParaRPr lang="en-US" sz="1300" dirty="0"/>
          </a:p>
        </p:txBody>
      </p:sp>
      <p:sp>
        <p:nvSpPr>
          <p:cNvPr id="28" name="proof card"/>
          <p:cNvSpPr/>
          <p:nvPr/>
        </p:nvSpPr>
        <p:spPr>
          <a:xfrm>
            <a:off x="8275320" y="1828800"/>
            <a:ext cx="3364992" cy="4160520"/>
          </a:xfrm>
          <a:prstGeom prst="roundRect">
            <a:avLst>
              <a:gd name="adj" fmla="val 3261"/>
            </a:avLst>
          </a:prstGeom>
          <a:solidFill>
            <a:schemeClr val="bg2"/>
          </a:solidFill>
          <a:ln w="12700">
            <a:solidFill>
              <a:schemeClr val="bg2"/>
            </a:solidFill>
            <a:prstDash val="solid"/>
          </a:ln>
        </p:spPr>
      </p:sp>
      <p:sp>
        <p:nvSpPr>
          <p:cNvPr id="29" name="stat data checks without a failure"/>
          <p:cNvSpPr txBox="1"/>
          <p:nvPr/>
        </p:nvSpPr>
        <p:spPr>
          <a:xfrm>
            <a:off x="8549640" y="2011680"/>
            <a:ext cx="283464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9/9</a:t>
            </a:r>
            <a:endParaRPr lang="en-US" sz="4000" dirty="0"/>
          </a:p>
        </p:txBody>
      </p:sp>
      <p:sp>
        <p:nvSpPr>
          <p:cNvPr id="30" name="stat label data checks without a failure"/>
          <p:cNvSpPr txBox="1"/>
          <p:nvPr/>
        </p:nvSpPr>
        <p:spPr>
          <a:xfrm>
            <a:off x="8549640" y="2743200"/>
            <a:ext cx="2834640" cy="548640"/>
          </a:xfrm>
          <a:prstGeom prst="rect">
            <a:avLst/>
          </a:prstGeom>
          <a:noFill/>
          <a:ln/>
        </p:spPr>
        <p:txBody>
          <a:bodyPr wrap="square" lIns="0" tIns="0" rIns="0" bIns="0" rtlCol="0" anchor="t"/>
          <a:lstStyle/>
          <a:p>
            <a:pPr indent="0" marL="0">
              <a:buNone/>
            </a:pPr>
            <a:r>
              <a:rPr lang="en-US" sz="1300" dirty="0">
                <a:solidFill>
                  <a:schemeClr val="accent3"/>
                </a:solidFill>
              </a:rPr>
              <a:t>data checks without a failure</a:t>
            </a:r>
            <a:endParaRPr lang="en-US" sz="1300" dirty="0"/>
          </a:p>
        </p:txBody>
      </p:sp>
      <p:sp>
        <p:nvSpPr>
          <p:cNvPr id="31" name="stat largest error rebuilding Eurostat&amp;apos;s headline"/>
          <p:cNvSpPr txBox="1"/>
          <p:nvPr/>
        </p:nvSpPr>
        <p:spPr>
          <a:xfrm>
            <a:off x="8549640" y="3337560"/>
            <a:ext cx="283464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0.030 pp</a:t>
            </a:r>
            <a:endParaRPr lang="en-US" sz="4000" dirty="0"/>
          </a:p>
        </p:txBody>
      </p:sp>
      <p:sp>
        <p:nvSpPr>
          <p:cNvPr id="32" name="stat label largest error rebuilding Eurostat&amp;apos;s headline"/>
          <p:cNvSpPr txBox="1"/>
          <p:nvPr/>
        </p:nvSpPr>
        <p:spPr>
          <a:xfrm>
            <a:off x="8549640" y="4069080"/>
            <a:ext cx="2834640" cy="548640"/>
          </a:xfrm>
          <a:prstGeom prst="rect">
            <a:avLst/>
          </a:prstGeom>
          <a:noFill/>
          <a:ln/>
        </p:spPr>
        <p:txBody>
          <a:bodyPr wrap="square" lIns="0" tIns="0" rIns="0" bIns="0" rtlCol="0" anchor="t"/>
          <a:lstStyle/>
          <a:p>
            <a:pPr indent="0" marL="0">
              <a:buNone/>
            </a:pPr>
            <a:r>
              <a:rPr lang="en-US" sz="1300" dirty="0">
                <a:solidFill>
                  <a:schemeClr val="accent3"/>
                </a:solidFill>
              </a:rPr>
              <a:t>largest error rebuilding Eurostat's headline</a:t>
            </a:r>
            <a:endParaRPr lang="en-US" sz="1300" dirty="0"/>
          </a:p>
        </p:txBody>
      </p:sp>
      <p:sp>
        <p:nvSpPr>
          <p:cNvPr id="33" name="stat automated tests (maths, data contracts, engine parity)"/>
          <p:cNvSpPr txBox="1"/>
          <p:nvPr/>
        </p:nvSpPr>
        <p:spPr>
          <a:xfrm>
            <a:off x="8549640" y="4663440"/>
            <a:ext cx="283464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217</a:t>
            </a:r>
            <a:endParaRPr lang="en-US" sz="4000" dirty="0"/>
          </a:p>
        </p:txBody>
      </p:sp>
      <p:sp>
        <p:nvSpPr>
          <p:cNvPr id="34" name="stat label automated tests (maths, data contracts, engine parity)"/>
          <p:cNvSpPr txBox="1"/>
          <p:nvPr/>
        </p:nvSpPr>
        <p:spPr>
          <a:xfrm>
            <a:off x="8549640" y="5394960"/>
            <a:ext cx="2834640" cy="548640"/>
          </a:xfrm>
          <a:prstGeom prst="rect">
            <a:avLst/>
          </a:prstGeom>
          <a:noFill/>
          <a:ln/>
        </p:spPr>
        <p:txBody>
          <a:bodyPr wrap="square" lIns="0" tIns="0" rIns="0" bIns="0" rtlCol="0" anchor="t"/>
          <a:lstStyle/>
          <a:p>
            <a:pPr indent="0" marL="0">
              <a:buNone/>
            </a:pPr>
            <a:r>
              <a:rPr lang="en-US" sz="1300" dirty="0">
                <a:solidFill>
                  <a:schemeClr val="accent3"/>
                </a:solidFill>
              </a:rPr>
              <a:t>automated tests (maths, data contracts, engine parity)</a:t>
            </a:r>
            <a:endParaRPr lang="en-US" sz="1300" dirty="0"/>
          </a:p>
        </p:txBody>
      </p:sp>
      <p:sp>
        <p:nvSpPr>
          <p:cNvPr id="25" name="Slide Number Placeholder 0"/>
          <p:cNvSpPr>
            <a:spLocks noGrp="1"/>
          </p:cNvSpPr>
          <p:nvPr>
            <p:ph type="sldNum" sz="quarter" idx="4294967295"/>
          </p:nvPr>
        </p:nvSpPr>
        <p:spPr>
          <a:xfrm>
            <a:off x="11247120" y="6309360"/>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411480"/>
            <a:ext cx="11064240" cy="36576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Forecast accuracy · out of sample, 2010–2026</a:t>
            </a:r>
            <a:endParaRPr lang="en-US" sz="1400" dirty="0"/>
          </a:p>
        </p:txBody>
      </p:sp>
      <p:sp>
        <p:nvSpPr>
          <p:cNvPr id="3" name="Text 1"/>
          <p:cNvSpPr/>
          <p:nvPr/>
        </p:nvSpPr>
        <p:spPr>
          <a:xfrm>
            <a:off x="548640" y="777240"/>
            <a:ext cx="11064240" cy="868680"/>
          </a:xfrm>
          <a:prstGeom prst="rect">
            <a:avLst/>
          </a:prstGeom>
          <a:noFill/>
          <a:ln/>
        </p:spPr>
        <p:txBody>
          <a:bodyPr wrap="square" lIns="0" tIns="0" rIns="0" bIns="0" rtlCol="0" anchor="t"/>
          <a:lstStyle/>
          <a:p>
            <a:pPr indent="0" marL="0">
              <a:buNone/>
            </a:pPr>
            <a:r>
              <a:rPr lang="en-US" sz="3400" b="1" dirty="0">
                <a:solidFill>
                  <a:schemeClr val="tx2"/>
                </a:solidFill>
                <a:latin typeface="Cambria" pitchFamily="34" charset="0"/>
                <a:ea typeface="Cambria" pitchFamily="34" charset="-122"/>
                <a:cs typeface="Cambria" pitchFamily="34" charset="-120"/>
              </a:rPr>
              <a:t>21% smaller three-month errors than a random walk</a:t>
            </a:r>
            <a:endParaRPr lang="en-US" sz="3400" dirty="0"/>
          </a:p>
        </p:txBody>
      </p:sp>
      <p:graphicFrame>
        <p:nvGraphicFramePr>
          <p:cNvPr id="4" name="rmse chart" descr=""/>
          <p:cNvGraphicFramePr/>
          <p:nvPr/>
        </p:nvGraphicFramePr>
        <p:xfrm>
          <a:off x="548640" y="1828800"/>
          <a:ext cx="5760720" cy="4206240"/>
        </p:xfrm>
        <a:graphic xmlns:a="http://schemas.openxmlformats.org/drawingml/2006/main">
          <a:graphicData uri="http://schemas.openxmlformats.org/drawingml/2006/chart">
            <c:chart xmlns:c="http://schemas.openxmlformats.org/drawingml/2006/chart" r:id="rId1"/>
          </a:graphicData>
        </a:graphic>
      </p:graphicFrame>
      <p:sp>
        <p:nvSpPr>
          <p:cNvPr id="5" name="stat error ratio vs random walk, 3 months"/>
          <p:cNvSpPr txBox="1"/>
          <p:nvPr/>
        </p:nvSpPr>
        <p:spPr>
          <a:xfrm>
            <a:off x="6675120" y="1828800"/>
            <a:ext cx="237744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0.79</a:t>
            </a:r>
            <a:endParaRPr lang="en-US" sz="4000" dirty="0"/>
          </a:p>
        </p:txBody>
      </p:sp>
      <p:sp>
        <p:nvSpPr>
          <p:cNvPr id="6" name="stat label error ratio vs random walk, 3 months"/>
          <p:cNvSpPr txBox="1"/>
          <p:nvPr/>
        </p:nvSpPr>
        <p:spPr>
          <a:xfrm>
            <a:off x="6675120" y="2560320"/>
            <a:ext cx="2377440" cy="548640"/>
          </a:xfrm>
          <a:prstGeom prst="rect">
            <a:avLst/>
          </a:prstGeom>
          <a:noFill/>
          <a:ln/>
        </p:spPr>
        <p:txBody>
          <a:bodyPr wrap="square" lIns="0" tIns="0" rIns="0" bIns="0" rtlCol="0" anchor="t"/>
          <a:lstStyle/>
          <a:p>
            <a:pPr indent="0" marL="0">
              <a:buNone/>
            </a:pPr>
            <a:r>
              <a:rPr lang="en-US" sz="1300" dirty="0">
                <a:solidFill>
                  <a:schemeClr val="accent3"/>
                </a:solidFill>
              </a:rPr>
              <a:t>error ratio vs random walk, 3 months</a:t>
            </a:r>
            <a:endParaRPr lang="en-US" sz="1300" dirty="0"/>
          </a:p>
        </p:txBody>
      </p:sp>
      <p:sp>
        <p:nvSpPr>
          <p:cNvPr id="7" name="stat Diebold-Mariano p (198 origins)"/>
          <p:cNvSpPr txBox="1"/>
          <p:nvPr/>
        </p:nvSpPr>
        <p:spPr>
          <a:xfrm>
            <a:off x="9235440" y="1828800"/>
            <a:ext cx="237744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0.016</a:t>
            </a:r>
            <a:endParaRPr lang="en-US" sz="4000" dirty="0"/>
          </a:p>
        </p:txBody>
      </p:sp>
      <p:sp>
        <p:nvSpPr>
          <p:cNvPr id="8" name="stat label Diebold-Mariano p (198 origins)"/>
          <p:cNvSpPr txBox="1"/>
          <p:nvPr/>
        </p:nvSpPr>
        <p:spPr>
          <a:xfrm>
            <a:off x="9235440" y="2560320"/>
            <a:ext cx="2377440" cy="548640"/>
          </a:xfrm>
          <a:prstGeom prst="rect">
            <a:avLst/>
          </a:prstGeom>
          <a:noFill/>
          <a:ln/>
        </p:spPr>
        <p:txBody>
          <a:bodyPr wrap="square" lIns="0" tIns="0" rIns="0" bIns="0" rtlCol="0" anchor="t"/>
          <a:lstStyle/>
          <a:p>
            <a:pPr indent="0" marL="0">
              <a:buNone/>
            </a:pPr>
            <a:r>
              <a:rPr lang="en-US" sz="1300" dirty="0">
                <a:solidFill>
                  <a:schemeClr val="accent3"/>
                </a:solidFill>
              </a:rPr>
              <a:t>Diebold-Mariano p (198 origins)</a:t>
            </a:r>
            <a:endParaRPr lang="en-US" sz="1300" dirty="0"/>
          </a:p>
        </p:txBody>
      </p:sp>
      <p:sp>
        <p:nvSpPr>
          <p:cNvPr id="9" name="Text 6"/>
          <p:cNvSpPr txBox="1"/>
          <p:nvPr/>
        </p:nvSpPr>
        <p:spPr>
          <a:xfrm>
            <a:off x="6675120" y="3291840"/>
            <a:ext cx="4937760" cy="640080"/>
          </a:xfrm>
          <a:prstGeom prst="rect">
            <a:avLst/>
          </a:prstGeom>
          <a:noFill/>
          <a:ln/>
        </p:spPr>
        <p:txBody>
          <a:bodyPr wrap="square" lIns="0" tIns="0" rIns="0" bIns="0" rtlCol="0" anchor="t"/>
          <a:lstStyle/>
          <a:p>
            <a:pPr indent="0" marL="0">
              <a:buNone/>
            </a:pPr>
            <a:r>
              <a:rPr lang="en-US" sz="1400" b="1" dirty="0">
                <a:solidFill>
                  <a:schemeClr val="tx2"/>
                </a:solidFill>
              </a:rPr>
              <a:t>Same gain in calm and in crisis: </a:t>
            </a:r>
            <a:pPr indent="0" marL="0">
              <a:buNone/>
            </a:pPr>
            <a:r>
              <a:rPr lang="en-US" sz="1400" dirty="0">
                <a:solidFill>
                  <a:schemeClr val="accent3"/>
                </a:solidFill>
              </a:rPr>
              <a:t>ratio 0.79 in 2010–19, 0.79 in 2020–23, 0.74 since 2024.</a:t>
            </a:r>
            <a:endParaRPr lang="en-US" sz="1400" dirty="0"/>
          </a:p>
        </p:txBody>
      </p:sp>
      <p:sp>
        <p:nvSpPr>
          <p:cNvPr id="10" name="limits card"/>
          <p:cNvSpPr/>
          <p:nvPr/>
        </p:nvSpPr>
        <p:spPr>
          <a:xfrm>
            <a:off x="6675120" y="4023360"/>
            <a:ext cx="4965192" cy="2011680"/>
          </a:xfrm>
          <a:prstGeom prst="roundRect">
            <a:avLst>
              <a:gd name="adj" fmla="val 5455"/>
            </a:avLst>
          </a:prstGeom>
          <a:solidFill>
            <a:schemeClr val="bg2"/>
          </a:solidFill>
          <a:ln w="12700">
            <a:solidFill>
              <a:schemeClr val="bg2"/>
            </a:solidFill>
            <a:prstDash val="solid"/>
          </a:ln>
        </p:spPr>
      </p:sp>
      <p:sp>
        <p:nvSpPr>
          <p:cNvPr id="11" name="Text 8"/>
          <p:cNvSpPr txBox="1"/>
          <p:nvPr/>
        </p:nvSpPr>
        <p:spPr>
          <a:xfrm>
            <a:off x="6903720" y="4160520"/>
            <a:ext cx="4572000" cy="320040"/>
          </a:xfrm>
          <a:prstGeom prst="rect">
            <a:avLst/>
          </a:prstGeom>
          <a:noFill/>
          <a:ln/>
        </p:spPr>
        <p:txBody>
          <a:bodyPr wrap="square" lIns="0" tIns="0" rIns="0" bIns="0" rtlCol="0" anchor="t"/>
          <a:lstStyle/>
          <a:p>
            <a:pPr indent="0" marL="0">
              <a:buNone/>
            </a:pPr>
            <a:r>
              <a:rPr lang="en-US" sz="1600" b="1" dirty="0">
                <a:solidFill>
                  <a:schemeClr val="accent6"/>
                </a:solidFill>
              </a:rPr>
              <a:t>Honest limits</a:t>
            </a:r>
            <a:endParaRPr lang="en-US" sz="1600" dirty="0"/>
          </a:p>
        </p:txBody>
      </p:sp>
      <p:sp>
        <p:nvSpPr>
          <p:cNvPr id="12" name="Text 9"/>
          <p:cNvSpPr txBox="1"/>
          <p:nvPr/>
        </p:nvSpPr>
        <p:spPr>
          <a:xfrm>
            <a:off x="6903720" y="4526280"/>
            <a:ext cx="4572000" cy="146304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In 2020–23 only 35% of outcomes fell inside the 68% band (79% in 2010–19), and the model under-predicted by 0.37 pp on average.</a:t>
            </a:r>
            <a:endParaRPr lang="en-US" sz="1300" dirty="0"/>
          </a:p>
          <a:p>
            <a:pPr indent="0" marL="0">
              <a:spcAft>
                <a:spcPts val="400"/>
              </a:spcAft>
              <a:buNone/>
            </a:pPr>
            <a:r>
              <a:rPr lang="en-US" sz="1300" dirty="0">
                <a:solidFill>
                  <a:schemeClr val="tx1"/>
                </a:solidFill>
              </a:rPr>
              <a:t>June 2022: forecast 6.8% from Mar 2022, outcome 8.6% (random walk 7.4%).</a:t>
            </a:r>
            <a:endParaRPr lang="en-US" sz="1300" dirty="0"/>
          </a:p>
          <a:p>
            <a:pPr indent="0" marL="0">
              <a:spcAft>
                <a:spcPts val="400"/>
              </a:spcAft>
              <a:buNone/>
            </a:pPr>
            <a:r>
              <a:rPr lang="en-US" sz="1300" dirty="0">
                <a:solidFill>
                  <a:schemeClr val="tx1"/>
                </a:solidFill>
              </a:rPr>
              <a:t>Model frozen after 4 pre-registered rounds; the ledger now scores it out of sample.</a:t>
            </a:r>
            <a:endParaRPr lang="en-US" sz="1300" dirty="0"/>
          </a:p>
        </p:txBody>
      </p:sp>
      <p:sp>
        <p:nvSpPr>
          <p:cNvPr id="25" name="Slide Number Placeholder 0"/>
          <p:cNvSpPr>
            <a:spLocks noGrp="1"/>
          </p:cNvSpPr>
          <p:nvPr>
            <p:ph type="sldNum" sz="quarter" idx="4294967295"/>
          </p:nvPr>
        </p:nvSpPr>
        <p:spPr>
          <a:xfrm>
            <a:off x="11247120" y="6309360"/>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411480"/>
            <a:ext cx="11064240" cy="365760"/>
          </a:xfrm>
          <a:prstGeom prst="rect">
            <a:avLst/>
          </a:prstGeom>
          <a:noFill/>
          <a:ln/>
        </p:spPr>
        <p:txBody>
          <a:bodyPr wrap="square" lIns="0" tIns="0" rIns="0" bIns="0" rtlCol="0" anchor="t"/>
          <a:lstStyle/>
          <a:p>
            <a:pPr indent="0" marL="0">
              <a:buNone/>
            </a:pPr>
            <a:r>
              <a:rPr lang="en-US" sz="1400" b="1" dirty="0">
                <a:solidFill>
                  <a:schemeClr val="accent1"/>
                </a:solidFill>
                <a:latin typeface="Calibri" pitchFamily="34" charset="0"/>
                <a:ea typeface="Calibri" pitchFamily="34" charset="-122"/>
                <a:cs typeface="Calibri" pitchFamily="34" charset="-120"/>
              </a:rPr>
              <a:t>Shock pass-through · preset scenario</a:t>
            </a:r>
            <a:endParaRPr lang="en-US" sz="1400" dirty="0"/>
          </a:p>
        </p:txBody>
      </p:sp>
      <p:sp>
        <p:nvSpPr>
          <p:cNvPr id="3" name="Text 1"/>
          <p:cNvSpPr/>
          <p:nvPr/>
        </p:nvSpPr>
        <p:spPr>
          <a:xfrm>
            <a:off x="548640" y="777240"/>
            <a:ext cx="11064240" cy="868680"/>
          </a:xfrm>
          <a:prstGeom prst="rect">
            <a:avLst/>
          </a:prstGeom>
          <a:noFill/>
          <a:ln/>
        </p:spPr>
        <p:txBody>
          <a:bodyPr wrap="square" lIns="0" tIns="0" rIns="0" bIns="0" rtlCol="0" anchor="t"/>
          <a:lstStyle/>
          <a:p>
            <a:pPr indent="0" marL="0">
              <a:buNone/>
            </a:pPr>
            <a:r>
              <a:rPr lang="en-US" sz="3400" b="1" dirty="0">
                <a:solidFill>
                  <a:schemeClr val="tx2"/>
                </a:solidFill>
                <a:latin typeface="Cambria" pitchFamily="34" charset="0"/>
                <a:ea typeface="Cambria" pitchFamily="34" charset="-122"/>
                <a:cs typeface="Cambria" pitchFamily="34" charset="-120"/>
              </a:rPr>
              <a:t>A gas price spike would add up to +1.07 pp to headline</a:t>
            </a:r>
            <a:endParaRPr lang="en-US" sz="3400" dirty="0"/>
          </a:p>
        </p:txBody>
      </p:sp>
      <p:graphicFrame>
        <p:nvGraphicFramePr>
          <p:cNvPr id="4" name="shock impact chart" descr=""/>
          <p:cNvGraphicFramePr/>
          <p:nvPr/>
        </p:nvGraphicFramePr>
        <p:xfrm>
          <a:off x="548640" y="1828800"/>
          <a:ext cx="6766560" cy="4206240"/>
        </p:xfrm>
        <a:graphic xmlns:a="http://schemas.openxmlformats.org/drawingml/2006/main">
          <a:graphicData uri="http://schemas.openxmlformats.org/drawingml/2006/chart">
            <c:chart xmlns:c="http://schemas.openxmlformats.org/drawingml/2006/chart" r:id="rId1"/>
          </a:graphicData>
        </a:graphic>
      </p:graphicFrame>
      <p:sp>
        <p:nvSpPr>
          <p:cNvPr id="5" name="scenario card"/>
          <p:cNvSpPr/>
          <p:nvPr/>
        </p:nvSpPr>
        <p:spPr>
          <a:xfrm>
            <a:off x="7635240" y="1828800"/>
            <a:ext cx="4005072" cy="1280160"/>
          </a:xfrm>
          <a:prstGeom prst="roundRect">
            <a:avLst>
              <a:gd name="adj" fmla="val 8571"/>
            </a:avLst>
          </a:prstGeom>
          <a:solidFill>
            <a:schemeClr val="bg2"/>
          </a:solidFill>
          <a:ln w="12700">
            <a:solidFill>
              <a:schemeClr val="bg2"/>
            </a:solidFill>
            <a:prstDash val="solid"/>
          </a:ln>
        </p:spPr>
      </p:sp>
      <p:sp>
        <p:nvSpPr>
          <p:cNvPr id="6" name="Text 3"/>
          <p:cNvSpPr txBox="1"/>
          <p:nvPr/>
        </p:nvSpPr>
        <p:spPr>
          <a:xfrm>
            <a:off x="7863840" y="1938528"/>
            <a:ext cx="3657600" cy="292608"/>
          </a:xfrm>
          <a:prstGeom prst="rect">
            <a:avLst/>
          </a:prstGeom>
          <a:noFill/>
          <a:ln/>
        </p:spPr>
        <p:txBody>
          <a:bodyPr wrap="square" lIns="0" tIns="0" rIns="0" bIns="0" rtlCol="0" anchor="t"/>
          <a:lstStyle/>
          <a:p>
            <a:pPr indent="0" marL="0">
              <a:buNone/>
            </a:pPr>
            <a:r>
              <a:rPr lang="en-US" sz="1600" b="1" dirty="0">
                <a:solidFill>
                  <a:schemeClr val="tx2"/>
                </a:solidFill>
              </a:rPr>
              <a:t>The scenario</a:t>
            </a:r>
            <a:endParaRPr lang="en-US" sz="1600" dirty="0"/>
          </a:p>
        </p:txBody>
      </p:sp>
      <p:sp>
        <p:nvSpPr>
          <p:cNvPr id="7" name="Text 4"/>
          <p:cNvSpPr txBox="1"/>
          <p:nvPr/>
        </p:nvSpPr>
        <p:spPr>
          <a:xfrm>
            <a:off x="7863840" y="2286000"/>
            <a:ext cx="3657600" cy="777240"/>
          </a:xfrm>
          <a:prstGeom prst="rect">
            <a:avLst/>
          </a:prstGeom>
          <a:noFill/>
          <a:ln/>
        </p:spPr>
        <p:txBody>
          <a:bodyPr wrap="square" lIns="0" tIns="0" rIns="0" bIns="0" rtlCol="0" anchor="t"/>
          <a:lstStyle/>
          <a:p>
            <a:pPr indent="0" marL="0">
              <a:buNone/>
            </a:pPr>
            <a:r>
              <a:rPr lang="en-US" sz="1300" dirty="0">
                <a:solidFill>
                  <a:schemeClr val="tx1"/>
                </a:solidFill>
              </a:rPr>
              <a:t>Retail electricity &amp; gas +20% across the euro area*, phased in over 6 months from Nov 2026: about a quarter of the 2021–22 rise.</a:t>
            </a:r>
            <a:endParaRPr lang="en-US" sz="1300" dirty="0"/>
          </a:p>
        </p:txBody>
      </p:sp>
      <p:sp>
        <p:nvSpPr>
          <p:cNvPr id="8" name="stat largest impact, Apr 2027"/>
          <p:cNvSpPr txBox="1"/>
          <p:nvPr/>
        </p:nvSpPr>
        <p:spPr>
          <a:xfrm>
            <a:off x="7635240" y="3291840"/>
            <a:ext cx="1920240" cy="68580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+1.07 pp</a:t>
            </a:r>
            <a:endParaRPr lang="en-US" sz="3000" dirty="0"/>
          </a:p>
        </p:txBody>
      </p:sp>
      <p:sp>
        <p:nvSpPr>
          <p:cNvPr id="9" name="stat label largest impact, Apr 2027"/>
          <p:cNvSpPr txBox="1"/>
          <p:nvPr/>
        </p:nvSpPr>
        <p:spPr>
          <a:xfrm>
            <a:off x="7635240" y="3840480"/>
            <a:ext cx="1920240" cy="548640"/>
          </a:xfrm>
          <a:prstGeom prst="rect">
            <a:avLst/>
          </a:prstGeom>
          <a:noFill/>
          <a:ln/>
        </p:spPr>
        <p:txBody>
          <a:bodyPr wrap="square" lIns="0" tIns="0" rIns="0" bIns="0" rtlCol="0" anchor="t"/>
          <a:lstStyle/>
          <a:p>
            <a:pPr indent="0" marL="0">
              <a:buNone/>
            </a:pPr>
            <a:r>
              <a:rPr lang="en-US" sz="1300" dirty="0">
                <a:solidFill>
                  <a:schemeClr val="accent3"/>
                </a:solidFill>
              </a:rPr>
              <a:t>largest impact, Apr 2027</a:t>
            </a:r>
            <a:endParaRPr lang="en-US" sz="1300" dirty="0"/>
          </a:p>
        </p:txBody>
      </p:sp>
      <p:sp>
        <p:nvSpPr>
          <p:cNvPr id="10" name="stat December instead of 3.8% (+0.33 pp)"/>
          <p:cNvSpPr txBox="1"/>
          <p:nvPr/>
        </p:nvSpPr>
        <p:spPr>
          <a:xfrm>
            <a:off x="9692640" y="3291840"/>
            <a:ext cx="1947672" cy="685800"/>
          </a:xfrm>
          <a:prstGeom prst="rect">
            <a:avLst/>
          </a:prstGeom>
          <a:noFill/>
          <a:ln/>
        </p:spPr>
        <p:txBody>
          <a:bodyPr wrap="square" lIns="0" tIns="0" rIns="0" bIns="0" rtlCol="0" anchor="t"/>
          <a:lstStyle/>
          <a:p>
            <a:pPr indent="0" marL="0">
              <a:buNone/>
            </a:pPr>
            <a:r>
              <a:rPr lang="en-US" sz="3000" b="1" dirty="0">
                <a:solidFill>
                  <a:schemeClr val="accent2"/>
                </a:solidFill>
                <a:latin typeface="Cambria" pitchFamily="34" charset="0"/>
                <a:ea typeface="Cambria" pitchFamily="34" charset="-122"/>
                <a:cs typeface="Cambria" pitchFamily="34" charset="-120"/>
              </a:rPr>
              <a:t>4.1%</a:t>
            </a:r>
            <a:endParaRPr lang="en-US" sz="3000" dirty="0"/>
          </a:p>
        </p:txBody>
      </p:sp>
      <p:sp>
        <p:nvSpPr>
          <p:cNvPr id="11" name="stat label December instead of 3.8% (+0.33 pp)"/>
          <p:cNvSpPr txBox="1"/>
          <p:nvPr/>
        </p:nvSpPr>
        <p:spPr>
          <a:xfrm>
            <a:off x="9692640" y="3840480"/>
            <a:ext cx="1947672" cy="548640"/>
          </a:xfrm>
          <a:prstGeom prst="rect">
            <a:avLst/>
          </a:prstGeom>
          <a:noFill/>
          <a:ln/>
        </p:spPr>
        <p:txBody>
          <a:bodyPr wrap="square" lIns="0" tIns="0" rIns="0" bIns="0" rtlCol="0" anchor="t"/>
          <a:lstStyle/>
          <a:p>
            <a:pPr indent="0" marL="0">
              <a:buNone/>
            </a:pPr>
            <a:r>
              <a:rPr lang="en-US" sz="1300" dirty="0">
                <a:solidFill>
                  <a:schemeClr val="accent3"/>
                </a:solidFill>
              </a:rPr>
              <a:t>December instead of 3.8% (+0.33 pp)</a:t>
            </a:r>
            <a:endParaRPr lang="en-US" sz="1300" dirty="0"/>
          </a:p>
        </p:txBody>
      </p:sp>
      <p:sp>
        <p:nvSpPr>
          <p:cNvPr id="12" name="Text 9"/>
          <p:cNvSpPr txBox="1"/>
          <p:nvPr/>
        </p:nvSpPr>
        <p:spPr>
          <a:xfrm>
            <a:off x="7635240" y="4526280"/>
            <a:ext cx="4005072" cy="292608"/>
          </a:xfrm>
          <a:prstGeom prst="rect">
            <a:avLst/>
          </a:prstGeom>
          <a:noFill/>
          <a:ln/>
        </p:spPr>
        <p:txBody>
          <a:bodyPr wrap="square" lIns="0" tIns="0" rIns="0" bIns="0" rtlCol="0" anchor="t"/>
          <a:lstStyle/>
          <a:p>
            <a:pPr indent="0" marL="0">
              <a:buNone/>
            </a:pPr>
            <a:r>
              <a:rPr lang="en-US" sz="1400" b="1" dirty="0">
                <a:solidFill>
                  <a:schemeClr val="tx2"/>
                </a:solidFill>
              </a:rPr>
              <a:t>Assumptions, always shown</a:t>
            </a:r>
            <a:endParaRPr lang="en-US" sz="1400" dirty="0"/>
          </a:p>
        </p:txBody>
      </p:sp>
      <p:sp>
        <p:nvSpPr>
          <p:cNvPr id="13" name="Text 10"/>
          <p:cNvSpPr txBox="1"/>
          <p:nvPr/>
        </p:nvSpPr>
        <p:spPr>
          <a:xfrm>
            <a:off x="7635240" y="4846320"/>
            <a:ext cx="4005072" cy="132588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chemeClr val="accent3"/>
                </a:solidFill>
              </a:rPr>
              <a:t>Price-level shock per country × component, on its own profile</a:t>
            </a:r>
            <a:endParaRPr lang="en-US" sz="1200" dirty="0"/>
          </a:p>
          <a:p>
            <a:pPr marL="342900" indent="-342900">
              <a:spcAft>
                <a:spcPts val="200"/>
              </a:spcAft>
              <a:buSzPct val="100000"/>
              <a:buChar char="•"/>
            </a:pPr>
            <a:r>
              <a:rPr lang="en-US" sz="1200" dirty="0">
                <a:solidFill>
                  <a:schemeClr val="accent3"/>
                </a:solidFill>
              </a:rPr>
              <a:t>Weights at origin prices, held constant</a:t>
            </a:r>
            <a:endParaRPr lang="en-US" sz="1200" dirty="0"/>
          </a:p>
          <a:p>
            <a:pPr marL="342900" indent="-342900">
              <a:spcAft>
                <a:spcPts val="200"/>
              </a:spcAft>
              <a:buSzPct val="100000"/>
              <a:buChar char="•"/>
            </a:pPr>
            <a:r>
              <a:rPr lang="en-US" sz="1200" dirty="0">
                <a:solidFill>
                  <a:schemeClr val="accent3"/>
                </a:solidFill>
              </a:rPr>
              <a:t>A permanent shock lifts y/y for 12 months, then drops out</a:t>
            </a:r>
            <a:endParaRPr lang="en-US" sz="1200" dirty="0"/>
          </a:p>
          <a:p>
            <a:pPr marL="342900" indent="-342900">
              <a:spcAft>
                <a:spcPts val="200"/>
              </a:spcAft>
              <a:buSzPct val="100000"/>
              <a:buChar char="•"/>
            </a:pPr>
            <a:r>
              <a:rPr lang="en-US" sz="1200" dirty="0">
                <a:solidFill>
                  <a:schemeClr val="accent3"/>
                </a:solidFill>
              </a:rPr>
              <a:t>Second round optional: estimated, regime-dependent lag</a:t>
            </a:r>
            <a:endParaRPr lang="en-US" sz="1200" dirty="0"/>
          </a:p>
          <a:p>
            <a:pPr marL="342900" indent="-342900">
              <a:spcAft>
                <a:spcPts val="200"/>
              </a:spcAft>
              <a:buSzPct val="100000"/>
              <a:buChar char="•"/>
            </a:pPr>
            <a:r>
              <a:rPr lang="en-US" sz="1200" dirty="0">
                <a:solidFill>
                  <a:schemeClr val="accent3"/>
                </a:solidFill>
              </a:rPr>
              <a:t>No policy or demand response</a:t>
            </a:r>
            <a:endParaRPr lang="en-US" sz="1200" dirty="0"/>
          </a:p>
        </p:txBody>
      </p:sp>
      <p:sp>
        <p:nvSpPr>
          <p:cNvPr id="25" name="Slide Number Placeholder 0"/>
          <p:cNvSpPr>
            <a:spLocks noGrp="1"/>
          </p:cNvSpPr>
          <p:nvPr>
            <p:ph type="sldNum" sz="quarter" idx="4294967295"/>
          </p:nvPr>
        </p:nvSpPr>
        <p:spPr>
          <a:xfrm>
            <a:off x="11247120" y="6309360"/>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411480"/>
            <a:ext cx="11064240" cy="365760"/>
          </a:xfrm>
          <a:prstGeom prst="rect">
            <a:avLst/>
          </a:prstGeom>
          <a:noFill/>
          <a:ln/>
        </p:spPr>
        <p:txBody>
          <a:bodyPr wrap="square" lIns="0" tIns="0" rIns="0" bIns="0" rtlCol="0" anchor="t"/>
          <a:lstStyle/>
          <a:p>
            <a:pPr indent="0" marL="0">
              <a:buNone/>
            </a:pPr>
            <a:r>
              <a:rPr lang="en-US" sz="1400" b="1" dirty="0">
                <a:solidFill>
                  <a:schemeClr val="accent4"/>
                </a:solidFill>
                <a:latin typeface="Calibri" pitchFamily="34" charset="0"/>
                <a:ea typeface="Calibri" pitchFamily="34" charset="-122"/>
                <a:cs typeface="Calibri" pitchFamily="34" charset="-120"/>
              </a:rPr>
              <a:t>Dashboard and next steps · EuroPulse, live and offline</a:t>
            </a:r>
            <a:endParaRPr lang="en-US" sz="1400" dirty="0"/>
          </a:p>
        </p:txBody>
      </p:sp>
      <p:sp>
        <p:nvSpPr>
          <p:cNvPr id="3" name="Text 1"/>
          <p:cNvSpPr/>
          <p:nvPr/>
        </p:nvSpPr>
        <p:spPr>
          <a:xfrm>
            <a:off x="548640" y="777240"/>
            <a:ext cx="11064240" cy="8686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One page to ask, simulate and check</a:t>
            </a:r>
            <a:endParaRPr lang="en-US" sz="3600" dirty="0"/>
          </a:p>
        </p:txBody>
      </p:sp>
      <p:sp>
        <p:nvSpPr>
          <p:cNvPr id="4" name="screenshot frame"/>
          <p:cNvSpPr/>
          <p:nvPr/>
        </p:nvSpPr>
        <p:spPr>
          <a:xfrm>
            <a:off x="548640" y="1828800"/>
            <a:ext cx="5532120" cy="3611880"/>
          </a:xfrm>
          <a:prstGeom prst="roundRect">
            <a:avLst>
              <a:gd name="adj" fmla="val 3038"/>
            </a:avLst>
          </a:prstGeom>
          <a:solidFill>
            <a:schemeClr val="bg1"/>
          </a:solidFill>
          <a:ln w="12700">
            <a:solidFill>
              <a:schemeClr val="bg1"/>
            </a:solidFill>
            <a:prstDash val="solid"/>
          </a:ln>
        </p:spPr>
      </p:sp>
      <p:pic>
        <p:nvPicPr>
          <p:cNvPr id="5" name="dashboard screenshot" descr="EuroPulse dashboard, Overview page">    </p:cNvPr>
          <p:cNvPicPr>
            <a:picLocks noChangeAspect="1"/>
          </p:cNvPicPr>
          <p:nvPr/>
        </p:nvPicPr>
        <p:blipFill>
          <a:blip r:embed="rId1"/>
          <a:stretch>
            <a:fillRect/>
          </a:stretch>
        </p:blipFill>
        <p:spPr>
          <a:xfrm>
            <a:off x="640080" y="1920240"/>
            <a:ext cx="5349240" cy="3343046"/>
          </a:xfrm>
          <a:prstGeom prst="rect">
            <a:avLst/>
          </a:prstGeom>
        </p:spPr>
      </p:pic>
      <p:sp>
        <p:nvSpPr>
          <p:cNvPr id="6" name="Text 3"/>
          <p:cNvSpPr txBox="1"/>
          <p:nvPr/>
        </p:nvSpPr>
        <p:spPr>
          <a:xfrm>
            <a:off x="548640" y="5532120"/>
            <a:ext cx="5532120" cy="320040"/>
          </a:xfrm>
          <a:prstGeom prst="rect">
            <a:avLst/>
          </a:prstGeom>
          <a:noFill/>
          <a:ln/>
        </p:spPr>
        <p:txBody>
          <a:bodyPr wrap="square" lIns="0" tIns="0" rIns="0" bIns="0" rtlCol="0" anchor="t"/>
          <a:lstStyle/>
          <a:p>
            <a:pPr indent="0" marL="0">
              <a:buNone/>
            </a:pPr>
            <a:r>
              <a:rPr lang="en-US" sz="1200" dirty="0">
                <a:solidFill>
                  <a:schemeClr val="accent4"/>
                </a:solidFill>
              </a:rPr>
              <a:t>hicpinflationshocksimulator.vercel.app · also one offline HTML file</a:t>
            </a:r>
            <a:endParaRPr lang="en-US" sz="1200" dirty="0"/>
          </a:p>
        </p:txBody>
      </p:sp>
      <p:sp>
        <p:nvSpPr>
          <p:cNvPr id="7" name="innovation card 1"/>
          <p:cNvSpPr/>
          <p:nvPr/>
        </p:nvSpPr>
        <p:spPr>
          <a:xfrm>
            <a:off x="6355080" y="1828800"/>
            <a:ext cx="2542032" cy="1664208"/>
          </a:xfrm>
          <a:prstGeom prst="roundRect">
            <a:avLst>
              <a:gd name="adj" fmla="val 6593"/>
            </a:avLst>
          </a:prstGeom>
          <a:solidFill>
            <a:srgbClr val="1E3A66"/>
          </a:solidFill>
          <a:ln w="12700">
            <a:solidFill>
              <a:srgbClr val="1E3A66"/>
            </a:solidFill>
            <a:prstDash val="solid"/>
          </a:ln>
        </p:spPr>
      </p:sp>
      <p:sp>
        <p:nvSpPr>
          <p:cNvPr id="8" name="Text 5"/>
          <p:cNvSpPr txBox="1"/>
          <p:nvPr/>
        </p:nvSpPr>
        <p:spPr>
          <a:xfrm>
            <a:off x="6519672" y="1938528"/>
            <a:ext cx="2240280" cy="274320"/>
          </a:xfrm>
          <a:prstGeom prst="rect">
            <a:avLst/>
          </a:prstGeom>
          <a:noFill/>
          <a:ln/>
        </p:spPr>
        <p:txBody>
          <a:bodyPr wrap="square" lIns="0" tIns="0" rIns="0" bIns="0" rtlCol="0" anchor="t"/>
          <a:lstStyle/>
          <a:p>
            <a:pPr indent="0" marL="0">
              <a:buNone/>
            </a:pPr>
            <a:r>
              <a:rPr lang="en-US" sz="1500" b="1" dirty="0">
                <a:solidFill>
                  <a:schemeClr val="accent2"/>
                </a:solidFill>
              </a:rPr>
              <a:t>Ask it anything</a:t>
            </a:r>
            <a:endParaRPr lang="en-US" sz="1500" dirty="0"/>
          </a:p>
        </p:txBody>
      </p:sp>
      <p:sp>
        <p:nvSpPr>
          <p:cNvPr id="9" name="Text 6"/>
          <p:cNvSpPr txBox="1"/>
          <p:nvPr/>
        </p:nvSpPr>
        <p:spPr>
          <a:xfrm>
            <a:off x="6519672" y="2267712"/>
            <a:ext cx="2240280" cy="1170432"/>
          </a:xfrm>
          <a:prstGeom prst="rect">
            <a:avLst/>
          </a:prstGeom>
          <a:noFill/>
          <a:ln/>
        </p:spPr>
        <p:txBody>
          <a:bodyPr wrap="square" lIns="0" tIns="0" rIns="0" bIns="0" rtlCol="0" anchor="t"/>
          <a:lstStyle/>
          <a:p>
            <a:pPr indent="0" marL="0">
              <a:buNone/>
            </a:pPr>
            <a:r>
              <a:rPr lang="en-US" sz="1200" dirty="0">
                <a:solidFill>
                  <a:schemeClr val="bg2"/>
                </a:solidFill>
              </a:rPr>
              <a:t>A chatbot answers in EN, FR or Turkish; every number is checked against the page, and it builds and runs scenarios itself.</a:t>
            </a:r>
            <a:endParaRPr lang="en-US" sz="1200" dirty="0"/>
          </a:p>
        </p:txBody>
      </p:sp>
      <p:sp>
        <p:nvSpPr>
          <p:cNvPr id="10" name="innovation card 2"/>
          <p:cNvSpPr/>
          <p:nvPr/>
        </p:nvSpPr>
        <p:spPr>
          <a:xfrm>
            <a:off x="9043416" y="1828800"/>
            <a:ext cx="2542032" cy="1664208"/>
          </a:xfrm>
          <a:prstGeom prst="roundRect">
            <a:avLst>
              <a:gd name="adj" fmla="val 6593"/>
            </a:avLst>
          </a:prstGeom>
          <a:solidFill>
            <a:srgbClr val="1E3A66"/>
          </a:solidFill>
          <a:ln w="12700">
            <a:solidFill>
              <a:srgbClr val="1E3A66"/>
            </a:solidFill>
            <a:prstDash val="solid"/>
          </a:ln>
        </p:spPr>
      </p:sp>
      <p:sp>
        <p:nvSpPr>
          <p:cNvPr id="11" name="Text 8"/>
          <p:cNvSpPr txBox="1"/>
          <p:nvPr/>
        </p:nvSpPr>
        <p:spPr>
          <a:xfrm>
            <a:off x="9208008" y="1938528"/>
            <a:ext cx="2240280" cy="274320"/>
          </a:xfrm>
          <a:prstGeom prst="rect">
            <a:avLst/>
          </a:prstGeom>
          <a:noFill/>
          <a:ln/>
        </p:spPr>
        <p:txBody>
          <a:bodyPr wrap="square" lIns="0" tIns="0" rIns="0" bIns="0" rtlCol="0" anchor="t"/>
          <a:lstStyle/>
          <a:p>
            <a:pPr indent="0" marL="0">
              <a:buNone/>
            </a:pPr>
            <a:r>
              <a:rPr lang="en-US" sz="1500" b="1" dirty="0">
                <a:solidFill>
                  <a:schemeClr val="accent2"/>
                </a:solidFill>
              </a:rPr>
              <a:t>Words become shocks</a:t>
            </a:r>
            <a:endParaRPr lang="en-US" sz="1500" dirty="0"/>
          </a:p>
        </p:txBody>
      </p:sp>
      <p:sp>
        <p:nvSpPr>
          <p:cNvPr id="12" name="Text 9"/>
          <p:cNvSpPr txBox="1"/>
          <p:nvPr/>
        </p:nvSpPr>
        <p:spPr>
          <a:xfrm>
            <a:off x="9208008" y="2267712"/>
            <a:ext cx="2240280" cy="1170432"/>
          </a:xfrm>
          <a:prstGeom prst="rect">
            <a:avLst/>
          </a:prstGeom>
          <a:noFill/>
          <a:ln/>
        </p:spPr>
        <p:txBody>
          <a:bodyPr wrap="square" lIns="0" tIns="0" rIns="0" bIns="0" rtlCol="0" anchor="t"/>
          <a:lstStyle/>
          <a:p>
            <a:pPr indent="0" marL="0">
              <a:buNone/>
            </a:pPr>
            <a:r>
              <a:rPr lang="en-US" sz="1200" dirty="0">
                <a:solidFill>
                  <a:schemeClr val="bg2"/>
                </a:solidFill>
              </a:rPr>
              <a:t>Describe a shock in a sentence: the language model only fills a validated schema; the engine computes, the reader confirms.</a:t>
            </a:r>
            <a:endParaRPr lang="en-US" sz="1200" dirty="0"/>
          </a:p>
        </p:txBody>
      </p:sp>
      <p:sp>
        <p:nvSpPr>
          <p:cNvPr id="13" name="innovation card 3"/>
          <p:cNvSpPr/>
          <p:nvPr/>
        </p:nvSpPr>
        <p:spPr>
          <a:xfrm>
            <a:off x="6355080" y="3639312"/>
            <a:ext cx="2542032" cy="1664208"/>
          </a:xfrm>
          <a:prstGeom prst="roundRect">
            <a:avLst>
              <a:gd name="adj" fmla="val 6593"/>
            </a:avLst>
          </a:prstGeom>
          <a:solidFill>
            <a:srgbClr val="1E3A66"/>
          </a:solidFill>
          <a:ln w="12700">
            <a:solidFill>
              <a:srgbClr val="1E3A66"/>
            </a:solidFill>
            <a:prstDash val="solid"/>
          </a:ln>
        </p:spPr>
      </p:sp>
      <p:sp>
        <p:nvSpPr>
          <p:cNvPr id="14" name="Text 11"/>
          <p:cNvSpPr txBox="1"/>
          <p:nvPr/>
        </p:nvSpPr>
        <p:spPr>
          <a:xfrm>
            <a:off x="6519672" y="3749040"/>
            <a:ext cx="2240280" cy="274320"/>
          </a:xfrm>
          <a:prstGeom prst="rect">
            <a:avLst/>
          </a:prstGeom>
          <a:noFill/>
          <a:ln/>
        </p:spPr>
        <p:txBody>
          <a:bodyPr wrap="square" lIns="0" tIns="0" rIns="0" bIns="0" rtlCol="0" anchor="t"/>
          <a:lstStyle/>
          <a:p>
            <a:pPr indent="0" marL="0">
              <a:buNone/>
            </a:pPr>
            <a:r>
              <a:rPr lang="en-US" sz="1500" b="1" dirty="0">
                <a:solidFill>
                  <a:schemeClr val="accent2"/>
                </a:solidFill>
              </a:rPr>
              <a:t>Solve it backwards</a:t>
            </a:r>
            <a:endParaRPr lang="en-US" sz="1500" dirty="0"/>
          </a:p>
        </p:txBody>
      </p:sp>
      <p:sp>
        <p:nvSpPr>
          <p:cNvPr id="15" name="Text 12"/>
          <p:cNvSpPr txBox="1"/>
          <p:nvPr/>
        </p:nvSpPr>
        <p:spPr>
          <a:xfrm>
            <a:off x="6519672" y="4078224"/>
            <a:ext cx="2240280" cy="1170432"/>
          </a:xfrm>
          <a:prstGeom prst="rect">
            <a:avLst/>
          </a:prstGeom>
          <a:noFill/>
          <a:ln/>
        </p:spPr>
        <p:txBody>
          <a:bodyPr wrap="square" lIns="0" tIns="0" rIns="0" bIns="0" rtlCol="0" anchor="t"/>
          <a:lstStyle/>
          <a:p>
            <a:pPr indent="0" marL="0">
              <a:buNone/>
            </a:pPr>
            <a:r>
              <a:rPr lang="en-US" sz="1200" dirty="0">
                <a:solidFill>
                  <a:schemeClr val="bg2"/>
                </a:solidFill>
              </a:rPr>
              <a:t>Reverse stress test: the shock size that takes December to a target or probability.</a:t>
            </a:r>
            <a:endParaRPr lang="en-US" sz="1200" dirty="0"/>
          </a:p>
        </p:txBody>
      </p:sp>
      <p:sp>
        <p:nvSpPr>
          <p:cNvPr id="16" name="innovation card 4"/>
          <p:cNvSpPr/>
          <p:nvPr/>
        </p:nvSpPr>
        <p:spPr>
          <a:xfrm>
            <a:off x="9043416" y="3639312"/>
            <a:ext cx="2542032" cy="1664208"/>
          </a:xfrm>
          <a:prstGeom prst="roundRect">
            <a:avLst>
              <a:gd name="adj" fmla="val 6593"/>
            </a:avLst>
          </a:prstGeom>
          <a:solidFill>
            <a:srgbClr val="1E3A66"/>
          </a:solidFill>
          <a:ln w="12700">
            <a:solidFill>
              <a:srgbClr val="1E3A66"/>
            </a:solidFill>
            <a:prstDash val="solid"/>
          </a:ln>
        </p:spPr>
      </p:sp>
      <p:sp>
        <p:nvSpPr>
          <p:cNvPr id="17" name="Text 14"/>
          <p:cNvSpPr txBox="1"/>
          <p:nvPr/>
        </p:nvSpPr>
        <p:spPr>
          <a:xfrm>
            <a:off x="9208008" y="3749040"/>
            <a:ext cx="2240280" cy="274320"/>
          </a:xfrm>
          <a:prstGeom prst="rect">
            <a:avLst/>
          </a:prstGeom>
          <a:noFill/>
          <a:ln/>
        </p:spPr>
        <p:txBody>
          <a:bodyPr wrap="square" lIns="0" tIns="0" rIns="0" bIns="0" rtlCol="0" anchor="t"/>
          <a:lstStyle/>
          <a:p>
            <a:pPr indent="0" marL="0">
              <a:buNone/>
            </a:pPr>
            <a:r>
              <a:rPr lang="en-US" sz="1500" b="1" dirty="0">
                <a:solidFill>
                  <a:schemeClr val="accent2"/>
                </a:solidFill>
              </a:rPr>
              <a:t>Forecasts that keep score</a:t>
            </a:r>
            <a:endParaRPr lang="en-US" sz="1500" dirty="0"/>
          </a:p>
        </p:txBody>
      </p:sp>
      <p:sp>
        <p:nvSpPr>
          <p:cNvPr id="18" name="Text 15"/>
          <p:cNvSpPr txBox="1"/>
          <p:nvPr/>
        </p:nvSpPr>
        <p:spPr>
          <a:xfrm>
            <a:off x="9208008" y="4078224"/>
            <a:ext cx="2240280" cy="1170432"/>
          </a:xfrm>
          <a:prstGeom prst="rect">
            <a:avLst/>
          </a:prstGeom>
          <a:noFill/>
          <a:ln/>
        </p:spPr>
        <p:txBody>
          <a:bodyPr wrap="square" lIns="0" tIns="0" rIns="0" bIns="0" rtlCol="0" anchor="t"/>
          <a:lstStyle/>
          <a:p>
            <a:pPr indent="0" marL="0">
              <a:buNone/>
            </a:pPr>
            <a:r>
              <a:rPr lang="en-US" sz="1200" dirty="0">
                <a:solidFill>
                  <a:schemeClr val="bg2"/>
                </a:solidFill>
              </a:rPr>
              <a:t>Pre-registered model rounds and a hash-chained ledger scored as Eurostat publishes.</a:t>
            </a:r>
            <a:endParaRPr lang="en-US" sz="1200" dirty="0"/>
          </a:p>
        </p:txBody>
      </p:sp>
      <p:sp>
        <p:nvSpPr>
          <p:cNvPr id="19" name="Text 16"/>
          <p:cNvSpPr txBox="1"/>
          <p:nvPr/>
        </p:nvSpPr>
        <p:spPr>
          <a:xfrm>
            <a:off x="6355080" y="5504688"/>
            <a:ext cx="5285232" cy="566928"/>
          </a:xfrm>
          <a:prstGeom prst="rect">
            <a:avLst/>
          </a:prstGeom>
          <a:noFill/>
          <a:ln/>
        </p:spPr>
        <p:txBody>
          <a:bodyPr wrap="square" lIns="0" tIns="0" rIns="0" bIns="0" rtlCol="0" anchor="t"/>
          <a:lstStyle/>
          <a:p>
            <a:pPr indent="0" marL="0">
              <a:buNone/>
            </a:pPr>
            <a:r>
              <a:rPr lang="en-US" sz="1200" b="1" dirty="0">
                <a:solidFill>
                  <a:schemeClr val="accent2"/>
                </a:solidFill>
              </a:rPr>
              <a:t>Next: </a:t>
            </a:r>
            <a:pPr indent="0" marL="0">
              <a:buNone/>
            </a:pPr>
            <a:r>
              <a:rPr lang="en-US" sz="1200" dirty="0">
                <a:solidFill>
                  <a:schemeClr val="bg2"/>
                </a:solidFill>
              </a:rPr>
              <a:t>weekly fuel prices, pre-tax energy, country-level gas and electricity, true real-time vintages. Outputs are schema-validated JSON, ready to feed Power BI or a research platform.</a:t>
            </a:r>
            <a:endParaRPr lang="en-US" sz="1200" dirty="0"/>
          </a:p>
        </p:txBody>
      </p:sp>
      <p:sp>
        <p:nvSpPr>
          <p:cNvPr id="25" name="Slide Number Placeholder 0"/>
          <p:cNvSpPr>
            <a:spLocks noGrp="1"/>
          </p:cNvSpPr>
          <p:nvPr>
            <p:ph type="sldNum" sz="quarter" idx="4294967295"/>
          </p:nvPr>
        </p:nvSpPr>
        <p:spPr>
          <a:xfrm>
            <a:off x="11247120" y="6309360"/>
            <a:ext cx="457200" cy="329184"/>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EuroPulse">
  <a:themeElements>
    <a:clrScheme name="EuroPulse">
      <a:dk1>
        <a:srgbClr val="0F1B2D"/>
      </a:dk1>
      <a:lt1>
        <a:srgbClr val="FFFFFF"/>
      </a:lt1>
      <a:dk2>
        <a:srgbClr val="14284B"/>
      </a:dk2>
      <a:lt2>
        <a:srgbClr val="EEF3FA"/>
      </a:lt2>
      <a:accent1>
        <a:srgbClr val="2A78D6"/>
      </a:accent1>
      <a:accent2>
        <a:srgbClr val="E39B2D"/>
      </a:accent2>
      <a:accent3>
        <a:srgbClr val="5B6B82"/>
      </a:accent3>
      <a:accent4>
        <a:srgbClr val="9DC0EC"/>
      </a:accent4>
      <a:accent5>
        <a:srgbClr val="2E9E6B"/>
      </a:accent5>
      <a:accent6>
        <a:srgbClr val="C2453D"/>
      </a:accent6>
      <a:hlink>
        <a:srgbClr val="2A78D6"/>
      </a:hlink>
      <a:folHlink>
        <a:srgbClr val="5B6B82"/>
      </a:folHlink>
    </a:clrScheme>
    <a:fontScheme name="EuroPul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EuroPulse: euro area HICP forecast and shock simulation</dc:title>
  <dc:subject>Euro area* headline HICP, Dec 2026 forecast</dc:subject>
  <dc:creator>Baris Tekdemir</dc:creator>
  <cp:lastModifiedBy>Baris Tekdemir</cp:lastModifiedBy>
  <cp:revision>1</cp:revision>
  <dcterms:created xsi:type="dcterms:W3CDTF">2026-10-22T01:28:56Z</dcterms:created>
  <dcterms:modified xsi:type="dcterms:W3CDTF">2026-10-22T01:28:56Z</dcterms:modified>
</cp:coreProperties>
</file>